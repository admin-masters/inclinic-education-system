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731520"/>
            <a:ext cx="164592" cy="512064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868680"/>
            <a:ext cx="67208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Engagement Reporting and Transaction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148840"/>
            <a:ext cx="65379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Show how campaign stakeholders review the doctor engagement outcomes created by sharing and doctor consumption.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4206240"/>
            <a:ext cx="2377440" cy="457200"/>
          </a:xfrm>
          <a:prstGeom prst="round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315968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Doctor and Reporting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983480"/>
            <a:ext cx="6355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Primary user: Campaign analysts, operations leads, and trainers closing the loop after a doctor demo.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742432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Generated: 2026-04-23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96012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B1F33"/>
                </a:solidFill>
                <a:latin typeface="Aptos"/>
              </a:rPr>
              <a:t>Training Pack</a:t>
            </a:r>
          </a:p>
          <a:p>
            <a:pPr algn="ctr"/>
            <a:r>
              <a:rPr sz="1300">
                <a:solidFill>
                  <a:srgbClr val="52667A"/>
                </a:solidFill>
                <a:latin typeface="Aptos"/>
              </a:rPr>
              <a:t>`/reports/collateral-transac</a:t>
            </a:r>
            <a:br/>
            <a:r>
              <a:rPr sz="1300">
                <a:solidFill>
                  <a:srgbClr val="52667A"/>
                </a:solidFill>
                <a:latin typeface="Aptos"/>
              </a:rPr>
              <a:t>tions/&lt;brand_campaign_id&gt;/`.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34440" cy="1097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Workflow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Engagement Reporting and Transaction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60120"/>
            <a:ext cx="3291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Aptos"/>
              </a:rPr>
              <a:t>Primary 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Aptos"/>
              </a:rPr>
              <a:t>Campaign analysts, operations leads, and trainers closing the loop after a doctor demo.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960120"/>
            <a:ext cx="3291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09728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Aptos"/>
              </a:rPr>
              <a:t>Entry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37160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Aptos"/>
              </a:rPr>
              <a:t>`/reports/collateral-transactions/&lt;brand_campaign_id&gt;/`.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960120"/>
            <a:ext cx="3291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109728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Aptos"/>
              </a:rPr>
              <a:t>Purpose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137160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Aptos"/>
              </a:rPr>
              <a:t>Show how campaign stakeholders review the doctor engagement outcomes created by sharing and doctor consumption.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606040"/>
            <a:ext cx="111556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78892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Aptos"/>
              </a:rPr>
              <a:t>What to cover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090672"/>
            <a:ext cx="106070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102A43"/>
                </a:solidFill>
                <a:latin typeface="Aptos"/>
              </a:rPr>
              <a:t>The transaction dashboard aggregates the latest state per doctor, collateral, and field rep for the selected campaign.</a:t>
            </a:r>
          </a:p>
          <a:p>
            <a:pPr algn="l"/>
            <a:r>
              <a:rPr sz="1800">
                <a:solidFill>
                  <a:srgbClr val="102A43"/>
                </a:solidFill>
                <a:latin typeface="Aptos"/>
              </a:rPr>
              <a:t>The report header exposes both a collateral filter and visible `Reset` and `Download CSV` controls.</a:t>
            </a:r>
          </a:p>
          <a:p>
            <a:pPr algn="l"/>
            <a:r>
              <a:rPr sz="1800">
                <a:solidFill>
                  <a:srgbClr val="102A43"/>
                </a:solidFill>
                <a:latin typeface="Aptos"/>
              </a:rPr>
              <a:t>The collateral filter narrows the view when stakeholders want to discuss one asset at a time.</a:t>
            </a:r>
          </a:p>
          <a:p>
            <a:pPr algn="l"/>
            <a:r>
              <a:rPr sz="1800">
                <a:solidFill>
                  <a:srgbClr val="102A43"/>
                </a:solidFill>
                <a:latin typeface="Aptos"/>
              </a:rPr>
              <a:t>Summary counters surface clicked doctors, downloaded PDFs, viewed-last-page counts, and video watch buckets.</a:t>
            </a:r>
          </a:p>
          <a:p>
            <a:pPr algn="l"/>
            <a:r>
              <a:rPr sz="1800">
                <a:solidFill>
                  <a:srgbClr val="102A43"/>
                </a:solidFill>
                <a:latin typeface="Aptos"/>
              </a:rPr>
              <a:t>The doctor table is the operational follow-up surface for identifying which doctors engaged and how far they got, and it includes client-side search plus a status filter.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67A"/>
                </a:solidFill>
                <a:latin typeface="Aptos"/>
              </a:rPr>
              <a:t>Source manual: docs/product-user-flows/09-engagement-reporting-and-transaction-review.md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34440" cy="1097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Step 1: Open the campaign transaction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Engagement Reporting and Transaction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14400"/>
            <a:ext cx="45720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097280"/>
            <a:ext cx="393192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User action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02A43"/>
                </a:solidFill>
                <a:latin typeface="Aptos"/>
              </a:rPr>
              <a:t>Navigate directly to the report URL for the campaign.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What appears on screen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02A43"/>
                </a:solidFill>
                <a:latin typeface="Aptos"/>
              </a:rPr>
              <a:t>A branded reporting page with a campaign selector, collateral filter, summary section, doctor table, and visible `Reset` and `Download CSV` controls.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Why it matters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02A43"/>
                </a:solidFill>
                <a:latin typeface="Aptos"/>
              </a:rPr>
              <a:t>This is the clearest operational view of whether the campaign is generating meaningful doctor interaction.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Expected result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02A43"/>
                </a:solidFill>
                <a:latin typeface="Aptos"/>
              </a:rPr>
              <a:t>Stakeholders can immediately orient to the campaign and available collateral.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97316"/>
                </a:solidFill>
                <a:latin typeface="Aptos"/>
              </a:rPr>
              <a:t>Trainer note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2667A"/>
                </a:solidFill>
                <a:latin typeface="Aptos"/>
              </a:rPr>
              <a:t>The dashboard is latest-state oriented, which is useful for follow-up but different from a raw event log.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914400"/>
            <a:ext cx="635508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0" y="1097280"/>
            <a:ext cx="5669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Aptos"/>
              </a:rPr>
              <a:t>Campaign transaction dashboard with summary metrics and doctor rows.</a:t>
            </a:r>
          </a:p>
        </p:txBody>
      </p:sp>
      <p:pic>
        <p:nvPicPr>
          <p:cNvPr id="10" name="Picture 9" descr="report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1417320"/>
            <a:ext cx="5806440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77840" y="566928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67A"/>
                </a:solidFill>
                <a:latin typeface="Aptos"/>
              </a:rPr>
              <a:t>The top summary section and the campaign/collateral filters.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67A"/>
                </a:solidFill>
                <a:latin typeface="Aptos"/>
              </a:rPr>
              <a:t>Screenshot asset: docs/product-user-flows/assets/engagement-reporting-and-transaction-review/report-dashboard.png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34440" cy="1097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Step 2: Filter to a specific collateral when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Engagement Reporting and Transaction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14400"/>
            <a:ext cx="45720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097280"/>
            <a:ext cx="393192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User action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02A43"/>
                </a:solidFill>
                <a:latin typeface="Aptos"/>
              </a:rPr>
              <a:t>Choose a collateral from the drop-down and refresh the page context.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What appears on screen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02A43"/>
                </a:solidFill>
                <a:latin typeface="Aptos"/>
              </a:rPr>
              <a:t>The same dashboard narrowed to a single collateral's doctor outcomes, with the summary counters and doctor rows recalculated for that asset.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Why it matters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02A43"/>
                </a:solidFill>
                <a:latin typeface="Aptos"/>
              </a:rPr>
              <a:t>Filtering keeps the conversation concrete when the campaign has more than one asset.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Expected result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02A43"/>
                </a:solidFill>
                <a:latin typeface="Aptos"/>
              </a:rPr>
              <a:t>The summary metrics and doctor rows now reflect the selected collateral only.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97316"/>
                </a:solidFill>
                <a:latin typeface="Aptos"/>
              </a:rPr>
              <a:t>Trainer note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2667A"/>
                </a:solidFill>
                <a:latin typeface="Aptos"/>
              </a:rPr>
              <a:t>This is a strong way to compare flagship collateral against supporting leaflets during a training review.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914400"/>
            <a:ext cx="635508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0" y="1097280"/>
            <a:ext cx="5669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Aptos"/>
              </a:rPr>
              <a:t>Transaction dashboard filtered to a specific collateral.</a:t>
            </a:r>
          </a:p>
        </p:txBody>
      </p:sp>
      <p:pic>
        <p:nvPicPr>
          <p:cNvPr id="10" name="Picture 9" descr="report-filte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1417320"/>
            <a:ext cx="5806440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77840" y="566928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67A"/>
                </a:solidFill>
                <a:latin typeface="Aptos"/>
              </a:rPr>
              <a:t>The same report with the collateral scope narrowed for discussion.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67A"/>
                </a:solidFill>
                <a:latin typeface="Aptos"/>
              </a:rPr>
              <a:t>Screenshot asset: docs/product-user-flows/assets/engagement-reporting-and-transaction-review/report-filtered.png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34440" cy="1097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Step 3: Read doctor-level engagement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Engagement Reporting and Transaction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14400"/>
            <a:ext cx="45720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097280"/>
            <a:ext cx="393192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User action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102A43"/>
                </a:solidFill>
                <a:latin typeface="Aptos"/>
              </a:rPr>
              <a:t>Use the search box and status filter above the table, then inspect who clicked, viewed, downloaded, or reached the later video buckets.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What appears on screen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102A43"/>
                </a:solidFill>
                <a:latin typeface="Aptos"/>
              </a:rPr>
              <a:t>A doctor table that combines transaction ID, doctor number, collateral ID, clicked state, PDF progress, video progress, transaction date, and updated timestamp.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Why it matters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102A43"/>
                </a:solidFill>
                <a:latin typeface="Aptos"/>
              </a:rPr>
              <a:t>This is the bridge from aggregate counts to real operational follow-up.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Expected result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102A43"/>
                </a:solidFill>
                <a:latin typeface="Aptos"/>
              </a:rPr>
              <a:t>The team can identify which doctors need another touchpoint or a different content approach.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97316"/>
                </a:solidFill>
                <a:latin typeface="Aptos"/>
              </a:rPr>
              <a:t>Trainer note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52667A"/>
                </a:solidFill>
                <a:latin typeface="Aptos"/>
              </a:rPr>
              <a:t>Use the report right after the doctor-viewer demo so the audience recognizes how those actions appear operationally. The status filter is client-side, so it is safe to use live during training without losing the page state.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914400"/>
            <a:ext cx="635508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0" y="1097280"/>
            <a:ext cx="5669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Aptos"/>
              </a:rPr>
              <a:t>Doctor-level table used for campaign follow-up discussions.</a:t>
            </a:r>
          </a:p>
        </p:txBody>
      </p:sp>
      <p:pic>
        <p:nvPicPr>
          <p:cNvPr id="10" name="Picture 9" descr="report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1417320"/>
            <a:ext cx="5806440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77840" y="566928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67A"/>
                </a:solidFill>
                <a:latin typeface="Aptos"/>
              </a:rPr>
              <a:t>The detailed rows that support rep and campaign follow-up.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67A"/>
                </a:solidFill>
                <a:latin typeface="Aptos"/>
              </a:rPr>
              <a:t>Screenshot asset: docs/product-user-flows/assets/engagement-reporting-and-transaction-review/report-dashboard.png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34440" cy="1097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Step 4: Export and reuse the report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Engagement Reporting and Transaction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14400"/>
            <a:ext cx="45720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097280"/>
            <a:ext cx="393192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User action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02A43"/>
                </a:solidFill>
                <a:latin typeface="Aptos"/>
              </a:rPr>
              <a:t>Use the CSV download option and hand the resulting data to downstream reporting or follow-up teams.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What appears on screen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02A43"/>
                </a:solidFill>
                <a:latin typeface="Aptos"/>
              </a:rPr>
              <a:t>The same report page with a dedicated `Download CSV` button positioned alongside the `Reset` control at the top of the dashboard.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Why it matters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02A43"/>
                </a:solidFill>
                <a:latin typeface="Aptos"/>
              </a:rPr>
              <a:t>Campaign reporting often continues outside the portal in spreadsheets or BI workflows.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Expected result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02A43"/>
                </a:solidFill>
                <a:latin typeface="Aptos"/>
              </a:rPr>
              <a:t>The transaction view can feed a follow-up or analytics process without manual rewriting.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97316"/>
                </a:solidFill>
                <a:latin typeface="Aptos"/>
              </a:rPr>
              <a:t>Trainer note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2667A"/>
                </a:solidFill>
                <a:latin typeface="Aptos"/>
              </a:rPr>
              <a:t>The export action preserves the current collateral filter in the query string so stakeholders can take either the whole campaign dataset or a filtered asset-specific extract.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914400"/>
            <a:ext cx="635508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0" y="1097280"/>
            <a:ext cx="5669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Aptos"/>
              </a:rPr>
              <a:t>Report page showing the export-oriented controls.</a:t>
            </a:r>
          </a:p>
        </p:txBody>
      </p:sp>
      <p:pic>
        <p:nvPicPr>
          <p:cNvPr id="10" name="Picture 9" descr="report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1417320"/>
            <a:ext cx="5806440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77840" y="566928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67A"/>
                </a:solidFill>
                <a:latin typeface="Aptos"/>
              </a:rPr>
              <a:t>The controls that let stakeholders take the data beyond the portal screen.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67A"/>
                </a:solidFill>
                <a:latin typeface="Aptos"/>
              </a:rPr>
              <a:t>Screenshot asset: docs/product-user-flows/assets/engagement-reporting-and-transaction-review/report-dashboard.png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34440" cy="1097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Trainer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Engagement Reporting and Transaction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109728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B8A6"/>
                </a:solidFill>
                <a:latin typeface="Aptos"/>
              </a:rPr>
              <a:t>Facilitation 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2412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>
                <a:solidFill>
                  <a:srgbClr val="102A43"/>
                </a:solidFill>
                <a:latin typeface="Aptos"/>
              </a:rPr>
              <a:t>Close the training pack with this deck so the audience sees the business value of the earlier workflows.</a:t>
            </a:r>
          </a:p>
          <a:p>
            <a:pPr algn="l"/>
            <a:r>
              <a:rPr sz="2200">
                <a:solidFill>
                  <a:srgbClr val="102A43"/>
                </a:solidFill>
                <a:latin typeface="Aptos"/>
              </a:rPr>
              <a:t>If time is short, focus on one collateral and one doctor row instead of trying to read every metric live.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57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67A"/>
                </a:solidFill>
                <a:latin typeface="Aptos"/>
              </a:rPr>
              <a:t>Related documents: docs/product-user-flows/08-doctor-verification-and-collateral-consumption.md, backend/sharing_management/views_transactions_page.py, backend/sharing_management/services/transactions.py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67A"/>
                </a:solidFill>
                <a:latin typeface="Aptos"/>
              </a:rPr>
              <a:t>Validated against the seeded transaction dashboard on 2026-04-23.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5303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What success looks like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FFFFFF"/>
                </a:solidFill>
                <a:latin typeface="Aptos"/>
              </a:rPr>
              <a:t>Stakeholders can connect doctor actions back to what they saw in the field-rep and doctor decks.</a:t>
            </a:r>
          </a:p>
          <a:p>
            <a:pPr algn="l"/>
            <a:r>
              <a:rPr sz="2000">
                <a:solidFill>
                  <a:srgbClr val="FFFFFF"/>
                </a:solidFill>
                <a:latin typeface="Aptos"/>
              </a:rPr>
              <a:t>The audience understands the difference between top-line counts and doctor-level rows.</a:t>
            </a:r>
          </a:p>
          <a:p>
            <a:pPr algn="l"/>
            <a:r>
              <a:rPr sz="2000">
                <a:solidFill>
                  <a:srgbClr val="FFFFFF"/>
                </a:solidFill>
                <a:latin typeface="Aptos"/>
              </a:rPr>
              <a:t>The export path is documented clearly enough for follow-up teams.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92240" y="1143000"/>
            <a:ext cx="4937760" cy="3611880"/>
          </a:xfrm>
          <a:prstGeom prst="round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12280" y="146304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Use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12280" y="1828800"/>
            <a:ext cx="4069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  <a:latin typeface="Aptos"/>
              </a:rPr>
              <a:t>Review docs/product-user-flows/08-doctor-verification-and-collateral-consumption.md</a:t>
            </a:r>
          </a:p>
          <a:p>
            <a:pPr algn="l"/>
            <a:r>
              <a:rPr sz="1800">
                <a:solidFill>
                  <a:srgbClr val="FFFFFF"/>
                </a:solidFill>
                <a:latin typeface="Aptos"/>
              </a:rPr>
              <a:t>Review backend/sharing_management/views_transactions_page.py</a:t>
            </a:r>
          </a:p>
          <a:p>
            <a:pPr algn="l"/>
            <a:r>
              <a:rPr sz="1800">
                <a:solidFill>
                  <a:srgbClr val="FFFFFF"/>
                </a:solidFill>
                <a:latin typeface="Aptos"/>
              </a:rPr>
              <a:t>Review backend/sharing_management/services/transactions.py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66928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Validated against the seeded transaction dashboard on 2026-04-23.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