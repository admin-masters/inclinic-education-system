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F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731520"/>
            <a:ext cx="164592" cy="5120640"/>
          </a:xfrm>
          <a:prstGeom prst="rect">
            <a:avLst/>
          </a:prstGeom>
          <a:solidFill>
            <a:srgbClr val="F97316"/>
          </a:solidFill>
          <a:ln>
            <a:solidFill>
              <a:srgbClr val="F973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868680"/>
            <a:ext cx="6720840" cy="1417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Aptos"/>
              </a:rPr>
              <a:t>Platform Overview and Role Map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2148840"/>
            <a:ext cx="6537960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  <a:latin typeface="Aptos"/>
              </a:rPr>
              <a:t>Explain how campaign master data, portal operations, field-rep sharing, doctor verification, and reporting connect end to end.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68680" y="4206240"/>
            <a:ext cx="2377440" cy="457200"/>
          </a:xfrm>
          <a:prstGeom prst="roundRect">
            <a:avLst/>
          </a:prstGeom>
          <a:solidFill>
            <a:srgbClr val="14B8A6"/>
          </a:solidFill>
          <a:ln>
            <a:solidFill>
              <a:srgbClr val="14B8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4315968"/>
            <a:ext cx="201168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Aptos"/>
              </a:rPr>
              <a:t>Platform Overview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4983480"/>
            <a:ext cx="635508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FFFFFF"/>
                </a:solidFill>
                <a:latin typeface="Aptos"/>
              </a:rPr>
              <a:t>Primary user: New team members, trainers, implementation partners, and AI agents orienting to the product.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5742432"/>
            <a:ext cx="32004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Aptos"/>
              </a:rPr>
              <a:t>Generated: 2026-04-23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138160" y="960120"/>
            <a:ext cx="3520440" cy="4480560"/>
          </a:xfrm>
          <a:prstGeom prst="round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0B1F33"/>
                </a:solidFill>
                <a:latin typeface="Aptos"/>
              </a:rPr>
              <a:t>Training Pack</a:t>
            </a:r>
          </a:p>
          <a:p>
            <a:pPr algn="ctr"/>
            <a:r>
              <a:rPr sz="1300">
                <a:solidFill>
                  <a:srgbClr val="52667A"/>
                </a:solidFill>
                <a:latin typeface="Aptos"/>
              </a:rPr>
              <a:t>Role-dependent. The seeded</a:t>
            </a:r>
            <a:br/>
            <a:r>
              <a:rPr sz="1300">
                <a:solidFill>
                  <a:srgbClr val="52667A"/>
                </a:solidFill>
                <a:latin typeface="Aptos"/>
              </a:rPr>
              <a:t>demo uses</a:t>
            </a:r>
            <a:br/>
            <a:r>
              <a:rPr sz="1300">
                <a:solidFill>
                  <a:srgbClr val="52667A"/>
                </a:solidFill>
                <a:latin typeface="Aptos"/>
              </a:rPr>
              <a:t>`/campaigns/manage-data/`,</a:t>
            </a:r>
            <a:br/>
            <a:r>
              <a:rPr sz="1300">
                <a:solidFill>
                  <a:srgbClr val="52667A"/>
                </a:solidFill>
                <a:latin typeface="Aptos"/>
              </a:rPr>
              <a:t>`/campaigns/publisher-</a:t>
            </a:r>
            <a:br/>
            <a:r>
              <a:rPr sz="1300">
                <a:solidFill>
                  <a:srgbClr val="52667A"/>
                </a:solidFill>
                <a:latin typeface="Aptos"/>
              </a:rPr>
              <a:t>landing-page/`,</a:t>
            </a:r>
            <a:br/>
            <a:r>
              <a:rPr sz="1300">
                <a:solidFill>
                  <a:srgbClr val="52667A"/>
                </a:solidFill>
                <a:latin typeface="Aptos"/>
              </a:rPr>
              <a:t>`/share/fieldrep-gmail-</a:t>
            </a:r>
            <a:br/>
            <a:r>
              <a:rPr sz="1300">
                <a:solidFill>
                  <a:srgbClr val="52667A"/>
                </a:solidFill>
                <a:latin typeface="Aptos"/>
              </a:rPr>
              <a:t>login/`, and</a:t>
            </a:r>
            <a:br/>
            <a:r>
              <a:rPr sz="1300">
                <a:solidFill>
                  <a:srgbClr val="52667A"/>
                </a:solidFill>
                <a:latin typeface="Aptos"/>
              </a:rPr>
              <a:t>`/shortlinks/go/&lt;code&gt;/` as</a:t>
            </a:r>
            <a:br/>
            <a:r>
              <a:rPr sz="1300">
                <a:solidFill>
                  <a:srgbClr val="52667A"/>
                </a:solidFill>
                <a:latin typeface="Aptos"/>
              </a:rPr>
              <a:t>the main route families.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94360"/>
          </a:xfrm>
          <a:prstGeom prst="rect">
            <a:avLst/>
          </a:prstGeom>
          <a:solidFill>
            <a:srgbClr val="0B1F33"/>
          </a:solidFill>
          <a:ln>
            <a:solidFill>
              <a:srgbClr val="0B1F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94360"/>
            <a:ext cx="1234440" cy="109728"/>
          </a:xfrm>
          <a:prstGeom prst="rect">
            <a:avLst/>
          </a:prstGeom>
          <a:solidFill>
            <a:srgbClr val="F97316"/>
          </a:solidFill>
          <a:ln>
            <a:solidFill>
              <a:srgbClr val="F973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93268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Aptos"/>
              </a:rPr>
              <a:t>Workflow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03920" y="182880"/>
            <a:ext cx="31089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FFFFFF"/>
                </a:solidFill>
                <a:latin typeface="Aptos"/>
              </a:rPr>
              <a:t>Platform Overview and Role Map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960120"/>
            <a:ext cx="329184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097280"/>
            <a:ext cx="292608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Aptos"/>
              </a:rPr>
              <a:t>Primary User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371600"/>
            <a:ext cx="28803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02A43"/>
                </a:solidFill>
                <a:latin typeface="Aptos"/>
              </a:rPr>
              <a:t>New team members, trainers, implementation partners, and AI agents orienting to the product.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60520" y="960120"/>
            <a:ext cx="329184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43400" y="1097280"/>
            <a:ext cx="292608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Aptos"/>
              </a:rPr>
              <a:t>Entry Point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43400" y="1371600"/>
            <a:ext cx="28803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02A43"/>
                </a:solidFill>
                <a:latin typeface="Aptos"/>
              </a:rPr>
              <a:t>Role-dependent. The seeded demo uses `/campaigns/manage-data/`, `/campaigns/publisher-landing-page/`, `/share/fieldrep-gmail-login/`, and `/shortlinks/go/&lt;code&gt;/` as the main route families.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818120" y="960120"/>
            <a:ext cx="329184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01000" y="1097280"/>
            <a:ext cx="292608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Aptos"/>
              </a:rPr>
              <a:t>Purpose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01000" y="1371600"/>
            <a:ext cx="28803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02A43"/>
                </a:solidFill>
                <a:latin typeface="Aptos"/>
              </a:rPr>
              <a:t>Explain how campaign master data, portal operations, field-rep sharing, doctor verification, and reporting connect end to end.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2606040"/>
            <a:ext cx="11155680" cy="324612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1520" y="2788920"/>
            <a:ext cx="201168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14B8A6"/>
                </a:solidFill>
                <a:latin typeface="Aptos"/>
              </a:rPr>
              <a:t>What to cover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3090672"/>
            <a:ext cx="1060704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>
                <a:solidFill>
                  <a:srgbClr val="102A43"/>
                </a:solidFill>
                <a:latin typeface="Aptos"/>
              </a:rPr>
              <a:t>Campaign definitions originate in the master database and are surfaced in the portal through the Manage Data Panel and publisher landing pages.</a:t>
            </a:r>
          </a:p>
          <a:p>
            <a:pPr algn="l"/>
            <a:r>
              <a:rPr sz="1800">
                <a:solidFill>
                  <a:srgbClr val="102A43"/>
                </a:solidFill>
                <a:latin typeface="Aptos"/>
              </a:rPr>
              <a:t>Editable campaign metadata, collateral assets, share logs, and transaction rollups live in the portal database.</a:t>
            </a:r>
          </a:p>
          <a:p>
            <a:pPr algn="l"/>
            <a:r>
              <a:rPr sz="1800">
                <a:solidFill>
                  <a:srgbClr val="102A43"/>
                </a:solidFill>
                <a:latin typeface="Aptos"/>
              </a:rPr>
              <a:t>Field reps are prepared in the campaign manager or staff-admin flow, then use the public Field Rep login page with Email ID and Field Rep ID before sharing.</a:t>
            </a:r>
          </a:p>
          <a:p>
            <a:pPr algn="l"/>
            <a:r>
              <a:rPr sz="1800">
                <a:solidFill>
                  <a:srgbClr val="102A43"/>
                </a:solidFill>
                <a:latin typeface="Aptos"/>
              </a:rPr>
              <a:t>Doctors unlock collateral with the same WhatsApp number used during sharing, then consume PDF/video content in a viewer that also surfaces archive and webinar follow-ons.</a:t>
            </a:r>
          </a:p>
          <a:p>
            <a:pPr algn="l"/>
            <a:r>
              <a:rPr sz="1800">
                <a:solidFill>
                  <a:srgbClr val="102A43"/>
                </a:solidFill>
                <a:latin typeface="Aptos"/>
              </a:rPr>
              <a:t>Reporting screens summarize the latest engagement state per doctor, per collateral, per campaign.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6400800"/>
            <a:ext cx="1097280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52667A"/>
                </a:solidFill>
                <a:latin typeface="Aptos"/>
              </a:rPr>
              <a:t>Source manual: docs/product-user-flows/01-platform-overview-and-role-map.md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94360"/>
          </a:xfrm>
          <a:prstGeom prst="rect">
            <a:avLst/>
          </a:prstGeom>
          <a:solidFill>
            <a:srgbClr val="0B1F33"/>
          </a:solidFill>
          <a:ln>
            <a:solidFill>
              <a:srgbClr val="0B1F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94360"/>
            <a:ext cx="1234440" cy="109728"/>
          </a:xfrm>
          <a:prstGeom prst="rect">
            <a:avLst/>
          </a:prstGeom>
          <a:solidFill>
            <a:srgbClr val="F97316"/>
          </a:solidFill>
          <a:ln>
            <a:solidFill>
              <a:srgbClr val="F973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93268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Aptos"/>
              </a:rPr>
              <a:t>Role Map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03920" y="182880"/>
            <a:ext cx="31089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FFFFFF"/>
                </a:solidFill>
                <a:latin typeface="Aptos"/>
              </a:rPr>
              <a:t>Platform Overview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960120"/>
            <a:ext cx="11109960" cy="749808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088136"/>
            <a:ext cx="192024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14B8A6"/>
                </a:solidFill>
                <a:latin typeface="Aptos"/>
              </a:rPr>
              <a:t>Publisher / partner system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0" y="1069848"/>
            <a:ext cx="33832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102A43"/>
                </a:solidFill>
                <a:latin typeface="Aptos"/>
              </a:rPr>
              <a:t>Open a campaign in the portal and maintain the editable PE-side campaign fields.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09360" y="1069848"/>
            <a:ext cx="2423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2667A"/>
                </a:solidFill>
                <a:latin typeface="Aptos"/>
              </a:rPr>
              <a:t>/campaigns/publisher-landing-page/?campaign-id=&lt;uuid&gt;&amp;jwt=&lt;token&gt;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006840" y="1069848"/>
            <a:ext cx="2286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2667A"/>
                </a:solidFill>
                <a:latin typeface="Aptos"/>
              </a:rPr>
              <a:t>Campaign operations users and field-rep setup.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1801368"/>
            <a:ext cx="11109960" cy="749808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1929384"/>
            <a:ext cx="192024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14B8A6"/>
                </a:solidFill>
                <a:latin typeface="Aptos"/>
              </a:rPr>
              <a:t>Internal campaign operator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43200" y="1911096"/>
            <a:ext cx="33832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102A43"/>
                </a:solidFill>
                <a:latin typeface="Aptos"/>
              </a:rPr>
              <a:t>Search campaign inventory, open campaign records, and branch into collateral or field-rep operations.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09360" y="1911096"/>
            <a:ext cx="2423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2667A"/>
                </a:solidFill>
                <a:latin typeface="Aptos"/>
              </a:rPr>
              <a:t>/campaigns/manage-data/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006840" y="1911096"/>
            <a:ext cx="2286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2667A"/>
                </a:solidFill>
                <a:latin typeface="Aptos"/>
              </a:rPr>
              <a:t>Collateral operations and field-rep administration.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2642616"/>
            <a:ext cx="11109960" cy="749808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5800" y="2770632"/>
            <a:ext cx="192024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14B8A6"/>
                </a:solidFill>
                <a:latin typeface="Aptos"/>
              </a:rPr>
              <a:t>Staff admin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743200" y="2752344"/>
            <a:ext cx="33832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102A43"/>
                </a:solidFill>
                <a:latin typeface="Aptos"/>
              </a:rPr>
              <a:t>Maintain master field reps and the doctor lists attached to each rep.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9360" y="2752344"/>
            <a:ext cx="2423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2667A"/>
                </a:solidFill>
                <a:latin typeface="Aptos"/>
              </a:rPr>
              <a:t>/admin_dashboard/fieldreps/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006840" y="2752344"/>
            <a:ext cx="2286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2667A"/>
                </a:solidFill>
                <a:latin typeface="Aptos"/>
              </a:rPr>
              <a:t>Field reps who will actually share the content.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2920" y="3483864"/>
            <a:ext cx="11109960" cy="749808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85800" y="3611880"/>
            <a:ext cx="192024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14B8A6"/>
                </a:solidFill>
                <a:latin typeface="Aptos"/>
              </a:rPr>
              <a:t>Field rep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43200" y="3593592"/>
            <a:ext cx="33832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102A43"/>
                </a:solidFill>
                <a:latin typeface="Aptos"/>
              </a:rPr>
              <a:t>Authenticate, pick the right campaign collateral, and share it with doctors through WhatsApp.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09360" y="3593592"/>
            <a:ext cx="2423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2667A"/>
                </a:solidFill>
                <a:latin typeface="Aptos"/>
              </a:rPr>
              <a:t>/share/fieldrep-gmail-login/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006840" y="3593592"/>
            <a:ext cx="2286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2667A"/>
                </a:solidFill>
                <a:latin typeface="Aptos"/>
              </a:rPr>
              <a:t>Doctors who receive the short link.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02920" y="4325112"/>
            <a:ext cx="11109960" cy="749808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" y="4453128"/>
            <a:ext cx="192024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14B8A6"/>
                </a:solidFill>
                <a:latin typeface="Aptos"/>
              </a:rPr>
              <a:t>Doctor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743200" y="4434840"/>
            <a:ext cx="33832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102A43"/>
                </a:solidFill>
                <a:latin typeface="Aptos"/>
              </a:rPr>
              <a:t>Verify access with the same WhatsApp number and consume the PDF/video collateral.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09360" y="4434840"/>
            <a:ext cx="2423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2667A"/>
                </a:solidFill>
                <a:latin typeface="Aptos"/>
              </a:rPr>
              <a:t>/shortlinks/go/&lt;code&gt;/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006840" y="4434840"/>
            <a:ext cx="2286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2667A"/>
                </a:solidFill>
                <a:latin typeface="Aptos"/>
              </a:rPr>
              <a:t>Reporting and follow-up users.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02920" y="5166360"/>
            <a:ext cx="11109960" cy="749808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85800" y="5294376"/>
            <a:ext cx="192024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14B8A6"/>
                </a:solidFill>
                <a:latin typeface="Aptos"/>
              </a:rPr>
              <a:t>Reporting stakeholder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743200" y="5276088"/>
            <a:ext cx="33832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102A43"/>
                </a:solidFill>
                <a:latin typeface="Aptos"/>
              </a:rPr>
              <a:t>Review transaction rollups and doctor-level engagement for a campaign.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309360" y="5276088"/>
            <a:ext cx="2423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2667A"/>
                </a:solidFill>
                <a:latin typeface="Aptos"/>
              </a:rPr>
              <a:t>/reports/collateral-transactions/&lt;brand_campaign_id&gt;/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006840" y="5276088"/>
            <a:ext cx="2286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2667A"/>
                </a:solidFill>
                <a:latin typeface="Aptos"/>
              </a:rPr>
              <a:t>Campaign optimization and rep follow-up.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02920" y="6400800"/>
            <a:ext cx="1097280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52667A"/>
                </a:solidFill>
                <a:latin typeface="Aptos"/>
              </a:rPr>
              <a:t>Cross-role handoff map for the seeded training campaign.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94360"/>
          </a:xfrm>
          <a:prstGeom prst="rect">
            <a:avLst/>
          </a:prstGeom>
          <a:solidFill>
            <a:srgbClr val="0B1F33"/>
          </a:solidFill>
          <a:ln>
            <a:solidFill>
              <a:srgbClr val="0B1F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94360"/>
            <a:ext cx="1234440" cy="109728"/>
          </a:xfrm>
          <a:prstGeom prst="rect">
            <a:avLst/>
          </a:prstGeom>
          <a:solidFill>
            <a:srgbClr val="F97316"/>
          </a:solidFill>
          <a:ln>
            <a:solidFill>
              <a:srgbClr val="F973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93268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Aptos"/>
              </a:rPr>
              <a:t>Step 1: Identify the role-specific entry point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03920" y="182880"/>
            <a:ext cx="31089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FFFFFF"/>
                </a:solidFill>
                <a:latin typeface="Aptos"/>
              </a:rPr>
              <a:t>Platform Overview and Role Map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914400"/>
            <a:ext cx="4572000" cy="521208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9808" y="1097280"/>
            <a:ext cx="3931920" cy="4754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14B8A6"/>
                </a:solidFill>
                <a:latin typeface="Aptos"/>
              </a:rPr>
              <a:t>User action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</a:pPr>
            <a:r>
              <a:rPr sz="1300">
                <a:solidFill>
                  <a:srgbClr val="102A43"/>
                </a:solidFill>
                <a:latin typeface="Aptos"/>
              </a:rPr>
              <a:t>Start from the route that matches the role: publisher link, authenticated Manage Data Panel, field-rep login page, or public short link.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14B8A6"/>
                </a:solidFill>
                <a:latin typeface="Aptos"/>
              </a:rPr>
              <a:t>What appears on screen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</a:pPr>
            <a:r>
              <a:rPr sz="1300">
                <a:solidFill>
                  <a:srgbClr val="102A43"/>
                </a:solidFill>
                <a:latin typeface="Aptos"/>
              </a:rPr>
              <a:t>A role-appropriate screen with the campaign context already embedded or selected.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14B8A6"/>
                </a:solidFill>
                <a:latin typeface="Aptos"/>
              </a:rPr>
              <a:t>Why it matters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</a:pPr>
            <a:r>
              <a:rPr sz="1300">
                <a:solidFill>
                  <a:srgbClr val="102A43"/>
                </a:solidFill>
                <a:latin typeface="Aptos"/>
              </a:rPr>
              <a:t>The system is intentionally route-driven. The entry point determines which database data is consulted and which actions are available next.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14B8A6"/>
                </a:solidFill>
                <a:latin typeface="Aptos"/>
              </a:rPr>
              <a:t>Expected result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</a:pPr>
            <a:r>
              <a:rPr sz="1300">
                <a:solidFill>
                  <a:srgbClr val="102A43"/>
                </a:solidFill>
                <a:latin typeface="Aptos"/>
              </a:rPr>
              <a:t>The user lands on the correct role surface without manually stitching together URLs.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F97316"/>
                </a:solidFill>
                <a:latin typeface="Aptos"/>
              </a:rPr>
              <a:t>Trainer note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52667A"/>
                </a:solidFill>
                <a:latin typeface="Aptos"/>
              </a:rPr>
              <a:t>Call out that the codebase has separate routes for publisher, staff, field-rep, and doctor experiences rather than a single unified shell.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303520" y="914400"/>
            <a:ext cx="6355080" cy="521208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577840" y="1097280"/>
            <a:ext cx="566928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14B8A6"/>
                </a:solidFill>
                <a:latin typeface="Aptos"/>
              </a:rPr>
              <a:t>Public home page used before an authenticated or signed route is chosen.</a:t>
            </a:r>
          </a:p>
        </p:txBody>
      </p:sp>
      <p:pic>
        <p:nvPicPr>
          <p:cNvPr id="10" name="Picture 9" descr="platform-ho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59552" y="1417320"/>
            <a:ext cx="5806440" cy="416052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577840" y="5669280"/>
            <a:ext cx="56235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2667A"/>
                </a:solidFill>
                <a:latin typeface="Aptos"/>
              </a:rPr>
              <a:t>The simple unauthenticated landing page that redirects authenticated users into campaign operations.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6400800"/>
            <a:ext cx="1097280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52667A"/>
                </a:solidFill>
                <a:latin typeface="Aptos"/>
              </a:rPr>
              <a:t>Screenshot asset: docs/product-user-flows/assets/platform-overview-and-role-map/platform-home.png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94360"/>
          </a:xfrm>
          <a:prstGeom prst="rect">
            <a:avLst/>
          </a:prstGeom>
          <a:solidFill>
            <a:srgbClr val="0B1F33"/>
          </a:solidFill>
          <a:ln>
            <a:solidFill>
              <a:srgbClr val="0B1F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94360"/>
            <a:ext cx="1234440" cy="109728"/>
          </a:xfrm>
          <a:prstGeom prst="rect">
            <a:avLst/>
          </a:prstGeom>
          <a:solidFill>
            <a:srgbClr val="F97316"/>
          </a:solidFill>
          <a:ln>
            <a:solidFill>
              <a:srgbClr val="F973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93268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Aptos"/>
              </a:rPr>
              <a:t>Step 2: Move campaign context from master data into portal operations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03920" y="182880"/>
            <a:ext cx="31089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FFFFFF"/>
                </a:solidFill>
                <a:latin typeface="Aptos"/>
              </a:rPr>
              <a:t>Platform Overview and Role Map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914400"/>
            <a:ext cx="4572000" cy="521208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9808" y="1097280"/>
            <a:ext cx="3931920" cy="4754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14B8A6"/>
                </a:solidFill>
                <a:latin typeface="Aptos"/>
              </a:rPr>
              <a:t>User action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</a:pPr>
            <a:r>
              <a:rPr sz="1300">
                <a:solidFill>
                  <a:srgbClr val="102A43"/>
                </a:solidFill>
                <a:latin typeface="Aptos"/>
              </a:rPr>
              <a:t>Open the Manage Data Panel or the publisher flow for a specific brand campaign.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14B8A6"/>
                </a:solidFill>
                <a:latin typeface="Aptos"/>
              </a:rPr>
              <a:t>What appears on screen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</a:pPr>
            <a:r>
              <a:rPr sz="1300">
                <a:solidFill>
                  <a:srgbClr val="102A43"/>
                </a:solidFill>
                <a:latin typeface="Aptos"/>
              </a:rPr>
              <a:t>A campaign inventory or campaign form populated with master-owned context such as brand name, company name, and doctor count.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14B8A6"/>
                </a:solidFill>
                <a:latin typeface="Aptos"/>
              </a:rPr>
              <a:t>Why it matters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</a:pPr>
            <a:r>
              <a:rPr sz="1300">
                <a:solidFill>
                  <a:srgbClr val="102A43"/>
                </a:solidFill>
                <a:latin typeface="Aptos"/>
              </a:rPr>
              <a:t>This is the handoff from source-of-truth campaign definitions into the operational portal where the team can manage assets and distribution.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14B8A6"/>
                </a:solidFill>
                <a:latin typeface="Aptos"/>
              </a:rPr>
              <a:t>Expected result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</a:pPr>
            <a:r>
              <a:rPr sz="1300">
                <a:solidFill>
                  <a:srgbClr val="102A43"/>
                </a:solidFill>
                <a:latin typeface="Aptos"/>
              </a:rPr>
              <a:t>The campaign is recognizable and ready for collateral, rep, and doctor operations.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F97316"/>
                </a:solidFill>
                <a:latin typeface="Aptos"/>
              </a:rPr>
              <a:t>Trainer note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52667A"/>
                </a:solidFill>
                <a:latin typeface="Aptos"/>
              </a:rPr>
              <a:t>Master values are shown read-only in the campaign update flow; only PE-side fields are meant to be edited locally.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303520" y="914400"/>
            <a:ext cx="6355080" cy="521208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577840" y="1097280"/>
            <a:ext cx="566928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14B8A6"/>
                </a:solidFill>
                <a:latin typeface="Aptos"/>
              </a:rPr>
              <a:t>Manage Data Panel with campaign shortcuts into field-rep and collateral operations.</a:t>
            </a:r>
          </a:p>
        </p:txBody>
      </p:sp>
      <p:pic>
        <p:nvPicPr>
          <p:cNvPr id="10" name="Picture 9" descr="platform-manage-dat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59552" y="1417320"/>
            <a:ext cx="5806440" cy="416052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577840" y="5669280"/>
            <a:ext cx="56235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2667A"/>
                </a:solidFill>
                <a:latin typeface="Aptos"/>
              </a:rPr>
              <a:t>The main operational hub that ties campaigns to downstream workflows.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6400800"/>
            <a:ext cx="1097280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52667A"/>
                </a:solidFill>
                <a:latin typeface="Aptos"/>
              </a:rPr>
              <a:t>Screenshot asset: docs/product-user-flows/assets/platform-overview-and-role-map/platform-manage-data.png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94360"/>
          </a:xfrm>
          <a:prstGeom prst="rect">
            <a:avLst/>
          </a:prstGeom>
          <a:solidFill>
            <a:srgbClr val="0B1F33"/>
          </a:solidFill>
          <a:ln>
            <a:solidFill>
              <a:srgbClr val="0B1F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94360"/>
            <a:ext cx="1234440" cy="109728"/>
          </a:xfrm>
          <a:prstGeom prst="rect">
            <a:avLst/>
          </a:prstGeom>
          <a:solidFill>
            <a:srgbClr val="F97316"/>
          </a:solidFill>
          <a:ln>
            <a:solidFill>
              <a:srgbClr val="F973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93268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Aptos"/>
              </a:rPr>
              <a:t>Step 3: Distribute collateral through campaign-assigned field reps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03920" y="182880"/>
            <a:ext cx="31089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FFFFFF"/>
                </a:solidFill>
                <a:latin typeface="Aptos"/>
              </a:rPr>
              <a:t>Platform Overview and Role Map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914400"/>
            <a:ext cx="4572000" cy="521208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9808" y="1097280"/>
            <a:ext cx="3931920" cy="4754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14B8A6"/>
                </a:solidFill>
                <a:latin typeface="Aptos"/>
              </a:rPr>
              <a:t>User action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</a:pPr>
            <a:r>
              <a:rPr sz="1100">
                <a:solidFill>
                  <a:srgbClr val="102A43"/>
                </a:solidFill>
                <a:latin typeface="Aptos"/>
              </a:rPr>
              <a:t>Assign or confirm field reps, then let a field rep authenticate into the Gmail/manual share flow or signed SSO entry point and send a doctor-facing WhatsApp message.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14B8A6"/>
                </a:solidFill>
                <a:latin typeface="Aptos"/>
              </a:rPr>
              <a:t>What appears on screen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</a:pPr>
            <a:r>
              <a:rPr sz="1100">
                <a:solidFill>
                  <a:srgbClr val="102A43"/>
                </a:solidFill>
                <a:latin typeface="Aptos"/>
              </a:rPr>
              <a:t>Campaign-specific collateral options, doctor lists, send/reminder statuses, and the floating support chatbot on the field-rep pages.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14B8A6"/>
                </a:solidFill>
                <a:latin typeface="Aptos"/>
              </a:rPr>
              <a:t>Why it matters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</a:pPr>
            <a:r>
              <a:rPr sz="1100">
                <a:solidFill>
                  <a:srgbClr val="102A43"/>
                </a:solidFill>
                <a:latin typeface="Aptos"/>
              </a:rPr>
              <a:t>This is the commercial and educational delivery loop the platform is built to support.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14B8A6"/>
                </a:solidFill>
                <a:latin typeface="Aptos"/>
              </a:rPr>
              <a:t>Expected result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</a:pPr>
            <a:r>
              <a:rPr sz="1100">
                <a:solidFill>
                  <a:srgbClr val="102A43"/>
                </a:solidFill>
                <a:latin typeface="Aptos"/>
              </a:rPr>
              <a:t>A doctor receives a short link tied back to the right collateral, campaign, and rep.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F97316"/>
                </a:solidFill>
                <a:latin typeface="Aptos"/>
              </a:rPr>
              <a:t>Trainer note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52667A"/>
                </a:solidFill>
                <a:latin typeface="Aptos"/>
              </a:rPr>
              <a:t>The operator-facing campaign screens and the field-rep share screens live in different route families but reference the same campaign ID. Field-rep registration happens earlier in the campaign manager or staff-admin flow; this public route family is for live login and outreach only.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303520" y="914400"/>
            <a:ext cx="6355080" cy="521208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577840" y="1097280"/>
            <a:ext cx="566928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14B8A6"/>
                </a:solidFill>
                <a:latin typeface="Aptos"/>
              </a:rPr>
              <a:t>Field-rep share page showing the current campaign form, doctor list, and support chatbot entry point.</a:t>
            </a:r>
          </a:p>
        </p:txBody>
      </p:sp>
      <p:pic>
        <p:nvPicPr>
          <p:cNvPr id="10" name="Picture 9" descr="platform-share-hando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59552" y="1417320"/>
            <a:ext cx="5806440" cy="416052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577840" y="5669280"/>
            <a:ext cx="56235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2667A"/>
                </a:solidFill>
                <a:latin typeface="Aptos"/>
              </a:rPr>
              <a:t>The moment where campaign operations become doctor outreach in the current Gmail-first flow.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6400800"/>
            <a:ext cx="1097280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52667A"/>
                </a:solidFill>
                <a:latin typeface="Aptos"/>
              </a:rPr>
              <a:t>Screenshot asset: docs/product-user-flows/assets/platform-overview-and-role-map/platform-share-handoff.png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94360"/>
          </a:xfrm>
          <a:prstGeom prst="rect">
            <a:avLst/>
          </a:prstGeom>
          <a:solidFill>
            <a:srgbClr val="0B1F33"/>
          </a:solidFill>
          <a:ln>
            <a:solidFill>
              <a:srgbClr val="0B1F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94360"/>
            <a:ext cx="1234440" cy="109728"/>
          </a:xfrm>
          <a:prstGeom prst="rect">
            <a:avLst/>
          </a:prstGeom>
          <a:solidFill>
            <a:srgbClr val="F97316"/>
          </a:solidFill>
          <a:ln>
            <a:solidFill>
              <a:srgbClr val="F973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93268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Aptos"/>
              </a:rPr>
              <a:t>Step 4: Close the loop with doctor verification and reporting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03920" y="182880"/>
            <a:ext cx="31089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FFFFFF"/>
                </a:solidFill>
                <a:latin typeface="Aptos"/>
              </a:rPr>
              <a:t>Platform Overview and Role Map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914400"/>
            <a:ext cx="4572000" cy="521208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9808" y="1097280"/>
            <a:ext cx="3931920" cy="4754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14B8A6"/>
                </a:solidFill>
                <a:latin typeface="Aptos"/>
              </a:rPr>
              <a:t>User action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</a:pPr>
            <a:r>
              <a:rPr sz="1200">
                <a:solidFill>
                  <a:srgbClr val="102A43"/>
                </a:solidFill>
                <a:latin typeface="Aptos"/>
              </a:rPr>
              <a:t>Follow the doctor from short-link click to verification, then open the transaction dashboard for the same campaign.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14B8A6"/>
                </a:solidFill>
                <a:latin typeface="Aptos"/>
              </a:rPr>
              <a:t>What appears on screen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</a:pPr>
            <a:r>
              <a:rPr sz="1200">
                <a:solidFill>
                  <a:srgbClr val="102A43"/>
                </a:solidFill>
                <a:latin typeface="Aptos"/>
              </a:rPr>
              <a:t>The doctor unlock screen, the collateral viewer with PDF/archive/webinar content and support chatbot, and a reporting dashboard summarizing doctor-level outcomes.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14B8A6"/>
                </a:solidFill>
                <a:latin typeface="Aptos"/>
              </a:rPr>
              <a:t>Why it matters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</a:pPr>
            <a:r>
              <a:rPr sz="1200">
                <a:solidFill>
                  <a:srgbClr val="102A43"/>
                </a:solidFill>
                <a:latin typeface="Aptos"/>
              </a:rPr>
              <a:t>The product is not just a file host; it exists to connect campaign setup to verifiable doctor engagement.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14B8A6"/>
                </a:solidFill>
                <a:latin typeface="Aptos"/>
              </a:rPr>
              <a:t>Expected result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</a:pPr>
            <a:r>
              <a:rPr sz="1200">
                <a:solidFill>
                  <a:srgbClr val="102A43"/>
                </a:solidFill>
                <a:latin typeface="Aptos"/>
              </a:rPr>
              <a:t>Doctor actions are visible again in reporting and can drive follow-up conversations.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F97316"/>
                </a:solidFill>
                <a:latin typeface="Aptos"/>
              </a:rPr>
              <a:t>Trainer note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52667A"/>
                </a:solidFill>
                <a:latin typeface="Aptos"/>
              </a:rPr>
              <a:t>Point out that the transaction dashboard shows the latest state per doctor and collateral rather than every raw event row.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303520" y="914400"/>
            <a:ext cx="6355080" cy="521208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577840" y="1097280"/>
            <a:ext cx="566928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14B8A6"/>
                </a:solidFill>
                <a:latin typeface="Aptos"/>
              </a:rPr>
              <a:t>Reporting dashboard that reflects the downstream result of shares and doctor engagement.</a:t>
            </a:r>
          </a:p>
        </p:txBody>
      </p:sp>
      <p:pic>
        <p:nvPicPr>
          <p:cNvPr id="10" name="Picture 9" descr="platform-reporting-lo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59552" y="1417320"/>
            <a:ext cx="5806440" cy="416052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577840" y="5669280"/>
            <a:ext cx="56235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2667A"/>
                </a:solidFill>
                <a:latin typeface="Aptos"/>
              </a:rPr>
              <a:t>The closed feedback loop from campaign setup to doctor behavior.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6400800"/>
            <a:ext cx="1097280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52667A"/>
                </a:solidFill>
                <a:latin typeface="Aptos"/>
              </a:rPr>
              <a:t>Screenshot asset: docs/product-user-flows/assets/platform-overview-and-role-map/platform-reporting-loop.png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94360"/>
          </a:xfrm>
          <a:prstGeom prst="rect">
            <a:avLst/>
          </a:prstGeom>
          <a:solidFill>
            <a:srgbClr val="0B1F33"/>
          </a:solidFill>
          <a:ln>
            <a:solidFill>
              <a:srgbClr val="0B1F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94360"/>
            <a:ext cx="1234440" cy="109728"/>
          </a:xfrm>
          <a:prstGeom prst="rect">
            <a:avLst/>
          </a:prstGeom>
          <a:solidFill>
            <a:srgbClr val="F97316"/>
          </a:solidFill>
          <a:ln>
            <a:solidFill>
              <a:srgbClr val="F973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93268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Aptos"/>
              </a:rPr>
              <a:t>Trainer Tips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03920" y="182880"/>
            <a:ext cx="31089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FFFFFF"/>
                </a:solidFill>
                <a:latin typeface="Aptos"/>
              </a:rPr>
              <a:t>Platform Overview and Role Map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188720"/>
            <a:ext cx="10972800" cy="438912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463040"/>
            <a:ext cx="2286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14B8A6"/>
                </a:solidFill>
                <a:latin typeface="Aptos"/>
              </a:rPr>
              <a:t>Facilitation notes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1828800"/>
            <a:ext cx="1024128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>
                <a:solidFill>
                  <a:srgbClr val="102A43"/>
                </a:solidFill>
                <a:latin typeface="Aptos"/>
              </a:rPr>
              <a:t>Treat the campaign UUID as the product's cross-role handoff key.</a:t>
            </a:r>
          </a:p>
          <a:p>
            <a:pPr algn="l"/>
            <a:r>
              <a:rPr sz="2200">
                <a:solidFill>
                  <a:srgbClr val="102A43"/>
                </a:solidFill>
                <a:latin typeface="Aptos"/>
              </a:rPr>
              <a:t>Use the platform overview deck first during training so later role decks make sense faster.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525780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2667A"/>
                </a:solidFill>
                <a:latin typeface="Aptos"/>
              </a:rPr>
              <a:t>Related documents: README.md, docs/product-user-flows/02-publisher-campaign-onboarding-and-update.md, docs/product-user-flows/07-field-rep-sharing-and-doctor-bulk-upload.md, docs/product-user-flows/09-engagement-reporting-and-transaction-review.md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400800"/>
            <a:ext cx="1097280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52667A"/>
                </a:solidFill>
                <a:latin typeface="Aptos"/>
              </a:rPr>
              <a:t>Validated against the seeded docs demo and the current Django route map on 2026-04-23.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F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822960"/>
            <a:ext cx="530352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Aptos"/>
              </a:rPr>
              <a:t>What success looks like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554480"/>
            <a:ext cx="521208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>
                <a:solidFill>
                  <a:srgbClr val="FFFFFF"/>
                </a:solidFill>
                <a:latin typeface="Aptos"/>
              </a:rPr>
              <a:t>A new user can explain which role owns which screen family.</a:t>
            </a:r>
          </a:p>
          <a:p>
            <a:pPr algn="l"/>
            <a:r>
              <a:rPr sz="2000">
                <a:solidFill>
                  <a:srgbClr val="FFFFFF"/>
                </a:solidFill>
                <a:latin typeface="Aptos"/>
              </a:rPr>
              <a:t>The relationship between master data, portal edits, sharing, verification, and reporting is clear.</a:t>
            </a:r>
          </a:p>
          <a:p>
            <a:pPr algn="l"/>
            <a:r>
              <a:rPr sz="2000">
                <a:solidFill>
                  <a:srgbClr val="FFFFFF"/>
                </a:solidFill>
                <a:latin typeface="Aptos"/>
              </a:rPr>
              <a:t>The team knows where to start each downstream workflow without guessing routes.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92240" y="1143000"/>
            <a:ext cx="4937760" cy="3611880"/>
          </a:xfrm>
          <a:prstGeom prst="roundRect">
            <a:avLst/>
          </a:prstGeom>
          <a:solidFill>
            <a:srgbClr val="14B8A6"/>
          </a:solidFill>
          <a:ln>
            <a:solidFill>
              <a:srgbClr val="14B8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12280" y="1463040"/>
            <a:ext cx="42062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Aptos"/>
              </a:rPr>
              <a:t>Use next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12280" y="1828800"/>
            <a:ext cx="406908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>
                <a:solidFill>
                  <a:srgbClr val="FFFFFF"/>
                </a:solidFill>
                <a:latin typeface="Aptos"/>
              </a:rPr>
              <a:t>Review README.md</a:t>
            </a:r>
          </a:p>
          <a:p>
            <a:pPr algn="l"/>
            <a:r>
              <a:rPr sz="1800">
                <a:solidFill>
                  <a:srgbClr val="FFFFFF"/>
                </a:solidFill>
                <a:latin typeface="Aptos"/>
              </a:rPr>
              <a:t>Review docs/product-user-flows/02-publisher-campaign-onboarding-and-update.md</a:t>
            </a:r>
          </a:p>
          <a:p>
            <a:pPr algn="l"/>
            <a:r>
              <a:rPr sz="1800">
                <a:solidFill>
                  <a:srgbClr val="FFFFFF"/>
                </a:solidFill>
                <a:latin typeface="Aptos"/>
              </a:rPr>
              <a:t>Review docs/product-user-flows/07-field-rep-sharing-and-doctor-bulk-upload.md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5669280"/>
            <a:ext cx="106984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Aptos"/>
              </a:rPr>
              <a:t>Validated against the seeded docs demo and the current Django route map on 2026-04-23.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