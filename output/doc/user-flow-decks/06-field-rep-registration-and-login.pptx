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502920" y="731520"/>
            <a:ext cx="164592" cy="5120640"/>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868680"/>
            <a:ext cx="6720840" cy="1417320"/>
          </a:xfrm>
          <a:prstGeom prst="rect">
            <a:avLst/>
          </a:prstGeom>
          <a:noFill/>
        </p:spPr>
        <p:txBody>
          <a:bodyPr wrap="square" anchor="t">
            <a:spAutoFit/>
          </a:bodyPr>
          <a:lstStyle/>
          <a:p>
            <a:pPr algn="l"/>
            <a:r>
              <a:rPr sz="2600" b="1">
                <a:solidFill>
                  <a:srgbClr val="FFFFFF"/>
                </a:solidFill>
                <a:latin typeface="Aptos"/>
              </a:rPr>
              <a:t>Field Rep Registration and Login</a:t>
            </a:r>
          </a:p>
        </p:txBody>
      </p:sp>
      <p:sp>
        <p:nvSpPr>
          <p:cNvPr id="4" name="TextBox 3"/>
          <p:cNvSpPr txBox="1"/>
          <p:nvPr/>
        </p:nvSpPr>
        <p:spPr>
          <a:xfrm>
            <a:off x="868680" y="2148840"/>
            <a:ext cx="6537960" cy="1325880"/>
          </a:xfrm>
          <a:prstGeom prst="rect">
            <a:avLst/>
          </a:prstGeom>
          <a:noFill/>
        </p:spPr>
        <p:txBody>
          <a:bodyPr wrap="square" anchor="t">
            <a:spAutoFit/>
          </a:bodyPr>
          <a:lstStyle/>
          <a:p>
            <a:pPr algn="l"/>
            <a:r>
              <a:rPr sz="1600" b="0">
                <a:solidFill>
                  <a:srgbClr val="FFFFFF"/>
                </a:solidFill>
                <a:latin typeface="Aptos"/>
              </a:rPr>
              <a:t>Explain the current public field-rep access screens, including the legacy compatibility redirects, the password login and recovery screens, and the active Gmail/manual or SSO login path.</a:t>
            </a:r>
          </a:p>
        </p:txBody>
      </p:sp>
      <p:sp>
        <p:nvSpPr>
          <p:cNvPr id="5" name="Rounded Rectangle 4"/>
          <p:cNvSpPr/>
          <p:nvPr/>
        </p:nvSpPr>
        <p:spPr>
          <a:xfrm>
            <a:off x="868680" y="4206240"/>
            <a:ext cx="2377440" cy="457200"/>
          </a:xfrm>
          <a:prstGeom prst="round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315968"/>
            <a:ext cx="2011680" cy="182880"/>
          </a:xfrm>
          <a:prstGeom prst="rect">
            <a:avLst/>
          </a:prstGeom>
          <a:noFill/>
        </p:spPr>
        <p:txBody>
          <a:bodyPr wrap="square" anchor="t">
            <a:spAutoFit/>
          </a:bodyPr>
          <a:lstStyle/>
          <a:p>
            <a:pPr algn="ctr"/>
            <a:r>
              <a:rPr sz="1200" b="1">
                <a:solidFill>
                  <a:srgbClr val="FFFFFF"/>
                </a:solidFill>
                <a:latin typeface="Aptos"/>
              </a:rPr>
              <a:t>Field Rep Journeys</a:t>
            </a:r>
          </a:p>
        </p:txBody>
      </p:sp>
      <p:sp>
        <p:nvSpPr>
          <p:cNvPr id="7" name="TextBox 6"/>
          <p:cNvSpPr txBox="1"/>
          <p:nvPr/>
        </p:nvSpPr>
        <p:spPr>
          <a:xfrm>
            <a:off x="868680" y="4983480"/>
            <a:ext cx="6355080" cy="658368"/>
          </a:xfrm>
          <a:prstGeom prst="rect">
            <a:avLst/>
          </a:prstGeom>
          <a:noFill/>
        </p:spPr>
        <p:txBody>
          <a:bodyPr wrap="square" anchor="t">
            <a:spAutoFit/>
          </a:bodyPr>
          <a:lstStyle/>
          <a:p>
            <a:pPr algn="l"/>
            <a:r>
              <a:rPr sz="1500" b="0">
                <a:solidFill>
                  <a:srgbClr val="FFFFFF"/>
                </a:solidFill>
                <a:latin typeface="Aptos"/>
              </a:rPr>
              <a:t>Primary user: Field reps and trainers preparing reps for their first campaign login.</a:t>
            </a:r>
          </a:p>
        </p:txBody>
      </p:sp>
      <p:sp>
        <p:nvSpPr>
          <p:cNvPr id="8" name="TextBox 7"/>
          <p:cNvSpPr txBox="1"/>
          <p:nvPr/>
        </p:nvSpPr>
        <p:spPr>
          <a:xfrm>
            <a:off x="868680" y="5742432"/>
            <a:ext cx="3200400" cy="228600"/>
          </a:xfrm>
          <a:prstGeom prst="rect">
            <a:avLst/>
          </a:prstGeom>
          <a:noFill/>
        </p:spPr>
        <p:txBody>
          <a:bodyPr wrap="square" anchor="t">
            <a:spAutoFit/>
          </a:bodyPr>
          <a:lstStyle/>
          <a:p>
            <a:pPr algn="l"/>
            <a:r>
              <a:rPr sz="1100" b="0">
                <a:solidFill>
                  <a:srgbClr val="FFFFFF"/>
                </a:solidFill>
                <a:latin typeface="Aptos"/>
              </a:rPr>
              <a:t>Generated: 2026-04-23</a:t>
            </a:r>
          </a:p>
        </p:txBody>
      </p:sp>
      <p:sp>
        <p:nvSpPr>
          <p:cNvPr id="9" name="Rounded Rectangle 8"/>
          <p:cNvSpPr/>
          <p:nvPr/>
        </p:nvSpPr>
        <p:spPr>
          <a:xfrm>
            <a:off x="8138160" y="960120"/>
            <a:ext cx="3520440" cy="4480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1F33"/>
                </a:solidFill>
                <a:latin typeface="Aptos"/>
              </a:rPr>
              <a:t>Training Pack</a:t>
            </a:r>
          </a:p>
          <a:p>
            <a:pPr algn="ctr"/>
            <a:r>
              <a:rPr sz="1300">
                <a:solidFill>
                  <a:srgbClr val="52667A"/>
                </a:solidFill>
                <a:latin typeface="Aptos"/>
              </a:rPr>
              <a:t>Public routes under</a:t>
            </a:r>
            <a:br/>
            <a:r>
              <a:rPr sz="1300">
                <a:solidFill>
                  <a:srgbClr val="52667A"/>
                </a:solidFill>
                <a:latin typeface="Aptos"/>
              </a:rPr>
              <a:t>`/share/fieldrep-register/`,</a:t>
            </a:r>
            <a:br/>
            <a:r>
              <a:rPr sz="1300">
                <a:solidFill>
                  <a:srgbClr val="52667A"/>
                </a:solidFill>
                <a:latin typeface="Aptos"/>
              </a:rPr>
              <a:t>`/share/fieldrep-create-</a:t>
            </a:r>
            <a:br/>
            <a:r>
              <a:rPr sz="1300">
                <a:solidFill>
                  <a:srgbClr val="52667A"/>
                </a:solidFill>
                <a:latin typeface="Aptos"/>
              </a:rPr>
              <a:t>password/`,</a:t>
            </a:r>
            <a:br/>
            <a:r>
              <a:rPr sz="1300">
                <a:solidFill>
                  <a:srgbClr val="52667A"/>
                </a:solidFill>
                <a:latin typeface="Aptos"/>
              </a:rPr>
              <a:t>`/share/fieldrep-login/`,</a:t>
            </a:r>
            <a:br/>
            <a:r>
              <a:rPr sz="1300">
                <a:solidFill>
                  <a:srgbClr val="52667A"/>
                </a:solidFill>
                <a:latin typeface="Aptos"/>
              </a:rPr>
              <a:t>and `/share/fieldrep-gmail-</a:t>
            </a:r>
            <a:br/>
            <a:r>
              <a:rPr sz="1300">
                <a:solidFill>
                  <a:srgbClr val="52667A"/>
                </a:solidFill>
                <a:latin typeface="Aptos"/>
              </a:rPr>
              <a:t>login/`.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1234440" cy="109728"/>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326880" cy="292608"/>
          </a:xfrm>
          <a:prstGeom prst="rect">
            <a:avLst/>
          </a:prstGeom>
          <a:noFill/>
        </p:spPr>
        <p:txBody>
          <a:bodyPr wrap="square" anchor="t">
            <a:spAutoFit/>
          </a:bodyPr>
          <a:lstStyle/>
          <a:p>
            <a:pPr algn="l"/>
            <a:r>
              <a:rPr sz="2600" b="1">
                <a:solidFill>
                  <a:srgbClr val="FFFFFF"/>
                </a:solidFill>
                <a:latin typeface="Aptos"/>
              </a:rPr>
              <a:t>Workflow Overview</a:t>
            </a:r>
          </a:p>
        </p:txBody>
      </p:sp>
      <p:sp>
        <p:nvSpPr>
          <p:cNvPr id="5" name="TextBox 4"/>
          <p:cNvSpPr txBox="1"/>
          <p:nvPr/>
        </p:nvSpPr>
        <p:spPr>
          <a:xfrm>
            <a:off x="8503920" y="182880"/>
            <a:ext cx="3108960" cy="228600"/>
          </a:xfrm>
          <a:prstGeom prst="rect">
            <a:avLst/>
          </a:prstGeom>
          <a:noFill/>
        </p:spPr>
        <p:txBody>
          <a:bodyPr wrap="square" anchor="t">
            <a:spAutoFit/>
          </a:bodyPr>
          <a:lstStyle/>
          <a:p>
            <a:pPr algn="r"/>
            <a:r>
              <a:rPr sz="1100" b="0">
                <a:solidFill>
                  <a:srgbClr val="FFFFFF"/>
                </a:solidFill>
                <a:latin typeface="Aptos"/>
              </a:rPr>
              <a:t>Field Rep Registration and Login</a:t>
            </a:r>
          </a:p>
        </p:txBody>
      </p:sp>
      <p:sp>
        <p:nvSpPr>
          <p:cNvPr id="6" name="Rounded Rectangle 5"/>
          <p:cNvSpPr/>
          <p:nvPr/>
        </p:nvSpPr>
        <p:spPr>
          <a:xfrm>
            <a:off x="502920" y="960120"/>
            <a:ext cx="329184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097280"/>
            <a:ext cx="2926080" cy="228600"/>
          </a:xfrm>
          <a:prstGeom prst="rect">
            <a:avLst/>
          </a:prstGeom>
          <a:noFill/>
        </p:spPr>
        <p:txBody>
          <a:bodyPr wrap="square" anchor="t">
            <a:spAutoFit/>
          </a:bodyPr>
          <a:lstStyle/>
          <a:p>
            <a:pPr algn="l"/>
            <a:r>
              <a:rPr sz="1200" b="1">
                <a:solidFill>
                  <a:srgbClr val="14B8A6"/>
                </a:solidFill>
                <a:latin typeface="Aptos"/>
              </a:rPr>
              <a:t>Primary User</a:t>
            </a:r>
          </a:p>
        </p:txBody>
      </p:sp>
      <p:sp>
        <p:nvSpPr>
          <p:cNvPr id="8" name="TextBox 7"/>
          <p:cNvSpPr txBox="1"/>
          <p:nvPr/>
        </p:nvSpPr>
        <p:spPr>
          <a:xfrm>
            <a:off x="685800" y="1371600"/>
            <a:ext cx="2880360" cy="731520"/>
          </a:xfrm>
          <a:prstGeom prst="rect">
            <a:avLst/>
          </a:prstGeom>
          <a:noFill/>
        </p:spPr>
        <p:txBody>
          <a:bodyPr wrap="square" anchor="t">
            <a:spAutoFit/>
          </a:bodyPr>
          <a:lstStyle/>
          <a:p>
            <a:pPr algn="l"/>
            <a:r>
              <a:rPr sz="1400" b="0">
                <a:solidFill>
                  <a:srgbClr val="102A43"/>
                </a:solidFill>
                <a:latin typeface="Aptos"/>
              </a:rPr>
              <a:t>Field reps and trainers preparing reps for their first campaign login.</a:t>
            </a:r>
          </a:p>
        </p:txBody>
      </p:sp>
      <p:sp>
        <p:nvSpPr>
          <p:cNvPr id="9" name="Rounded Rectangle 8"/>
          <p:cNvSpPr/>
          <p:nvPr/>
        </p:nvSpPr>
        <p:spPr>
          <a:xfrm>
            <a:off x="4160520" y="960120"/>
            <a:ext cx="329184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097280"/>
            <a:ext cx="2926080" cy="228600"/>
          </a:xfrm>
          <a:prstGeom prst="rect">
            <a:avLst/>
          </a:prstGeom>
          <a:noFill/>
        </p:spPr>
        <p:txBody>
          <a:bodyPr wrap="square" anchor="t">
            <a:spAutoFit/>
          </a:bodyPr>
          <a:lstStyle/>
          <a:p>
            <a:pPr algn="l"/>
            <a:r>
              <a:rPr sz="1200" b="1">
                <a:solidFill>
                  <a:srgbClr val="14B8A6"/>
                </a:solidFill>
                <a:latin typeface="Aptos"/>
              </a:rPr>
              <a:t>Entry Point</a:t>
            </a:r>
          </a:p>
        </p:txBody>
      </p:sp>
      <p:sp>
        <p:nvSpPr>
          <p:cNvPr id="11" name="TextBox 10"/>
          <p:cNvSpPr txBox="1"/>
          <p:nvPr/>
        </p:nvSpPr>
        <p:spPr>
          <a:xfrm>
            <a:off x="4343400" y="1371600"/>
            <a:ext cx="2880360" cy="731520"/>
          </a:xfrm>
          <a:prstGeom prst="rect">
            <a:avLst/>
          </a:prstGeom>
          <a:noFill/>
        </p:spPr>
        <p:txBody>
          <a:bodyPr wrap="square" anchor="t">
            <a:spAutoFit/>
          </a:bodyPr>
          <a:lstStyle/>
          <a:p>
            <a:pPr algn="l"/>
            <a:r>
              <a:rPr sz="1400" b="0">
                <a:solidFill>
                  <a:srgbClr val="102A43"/>
                </a:solidFill>
                <a:latin typeface="Aptos"/>
              </a:rPr>
              <a:t>Public routes under `/share/fieldrep-register/`, `/share/fieldrep-create-password/`, `/share/fieldrep-login/`, and `/share/fieldrep-gmail-login/`.</a:t>
            </a:r>
          </a:p>
        </p:txBody>
      </p:sp>
      <p:sp>
        <p:nvSpPr>
          <p:cNvPr id="12" name="Rounded Rectangle 11"/>
          <p:cNvSpPr/>
          <p:nvPr/>
        </p:nvSpPr>
        <p:spPr>
          <a:xfrm>
            <a:off x="7818120" y="960120"/>
            <a:ext cx="3291840"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1097280"/>
            <a:ext cx="2926080" cy="228600"/>
          </a:xfrm>
          <a:prstGeom prst="rect">
            <a:avLst/>
          </a:prstGeom>
          <a:noFill/>
        </p:spPr>
        <p:txBody>
          <a:bodyPr wrap="square" anchor="t">
            <a:spAutoFit/>
          </a:bodyPr>
          <a:lstStyle/>
          <a:p>
            <a:pPr algn="l"/>
            <a:r>
              <a:rPr sz="1200" b="1">
                <a:solidFill>
                  <a:srgbClr val="14B8A6"/>
                </a:solidFill>
                <a:latin typeface="Aptos"/>
              </a:rPr>
              <a:t>Purpose</a:t>
            </a:r>
          </a:p>
        </p:txBody>
      </p:sp>
      <p:sp>
        <p:nvSpPr>
          <p:cNvPr id="14" name="TextBox 13"/>
          <p:cNvSpPr txBox="1"/>
          <p:nvPr/>
        </p:nvSpPr>
        <p:spPr>
          <a:xfrm>
            <a:off x="8001000" y="1371600"/>
            <a:ext cx="2880360" cy="731520"/>
          </a:xfrm>
          <a:prstGeom prst="rect">
            <a:avLst/>
          </a:prstGeom>
          <a:noFill/>
        </p:spPr>
        <p:txBody>
          <a:bodyPr wrap="square" anchor="t">
            <a:spAutoFit/>
          </a:bodyPr>
          <a:lstStyle/>
          <a:p>
            <a:pPr algn="l"/>
            <a:r>
              <a:rPr sz="1400" b="0">
                <a:solidFill>
                  <a:srgbClr val="102A43"/>
                </a:solidFill>
                <a:latin typeface="Aptos"/>
              </a:rPr>
              <a:t>Explain the current public field-rep access screens, including the legacy compatibility redirects, the password login and recovery screens, and the active Gmail/manual or SSO login path.</a:t>
            </a:r>
          </a:p>
        </p:txBody>
      </p:sp>
      <p:sp>
        <p:nvSpPr>
          <p:cNvPr id="15" name="Rounded Rectangle 14"/>
          <p:cNvSpPr/>
          <p:nvPr/>
        </p:nvSpPr>
        <p:spPr>
          <a:xfrm>
            <a:off x="502920" y="2606040"/>
            <a:ext cx="11155680" cy="3246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88920"/>
            <a:ext cx="2011680" cy="228600"/>
          </a:xfrm>
          <a:prstGeom prst="rect">
            <a:avLst/>
          </a:prstGeom>
          <a:noFill/>
        </p:spPr>
        <p:txBody>
          <a:bodyPr wrap="square" anchor="t">
            <a:spAutoFit/>
          </a:bodyPr>
          <a:lstStyle/>
          <a:p>
            <a:pPr algn="l"/>
            <a:r>
              <a:rPr sz="1300" b="1">
                <a:solidFill>
                  <a:srgbClr val="14B8A6"/>
                </a:solidFill>
                <a:latin typeface="Aptos"/>
              </a:rPr>
              <a:t>What to cover</a:t>
            </a:r>
          </a:p>
        </p:txBody>
      </p:sp>
      <p:sp>
        <p:nvSpPr>
          <p:cNvPr id="17" name="TextBox 16"/>
          <p:cNvSpPr txBox="1"/>
          <p:nvPr/>
        </p:nvSpPr>
        <p:spPr>
          <a:xfrm>
            <a:off x="731520" y="3090672"/>
            <a:ext cx="10607040" cy="2468880"/>
          </a:xfrm>
          <a:prstGeom prst="rect">
            <a:avLst/>
          </a:prstGeom>
          <a:noFill/>
        </p:spPr>
        <p:txBody>
          <a:bodyPr wrap="square">
            <a:spAutoFit/>
          </a:bodyPr>
          <a:lstStyle/>
          <a:p>
            <a:pPr algn="l"/>
            <a:r>
              <a:rPr sz="1800">
                <a:solidFill>
                  <a:srgbClr val="102A43"/>
                </a:solidFill>
                <a:latin typeface="Aptos"/>
              </a:rPr>
              <a:t>The legacy registration and create-password routes no longer collect new credentials; they redirect into the Gmail/manual login screen with an informational banner.</a:t>
            </a:r>
          </a:p>
          <a:p>
            <a:pPr algn="l"/>
            <a:r>
              <a:rPr sz="1800">
                <a:solidFill>
                  <a:srgbClr val="102A43"/>
                </a:solidFill>
                <a:latin typeface="Aptos"/>
              </a:rPr>
              <a:t>The product still supports both email/password login and Brand Specific Field ID plus Email ID login patterns.</a:t>
            </a:r>
          </a:p>
          <a:p>
            <a:pPr algn="l"/>
            <a:r>
              <a:rPr sz="1800">
                <a:solidFill>
                  <a:srgbClr val="102A43"/>
                </a:solidFill>
                <a:latin typeface="Aptos"/>
              </a:rPr>
              <a:t>Password recovery is still live through the forgot-password and reset-password flow backed by the rep's configured security question.</a:t>
            </a:r>
          </a:p>
          <a:p>
            <a:pPr algn="l"/>
            <a:r>
              <a:rPr sz="1800">
                <a:solidFill>
                  <a:srgbClr val="102A43"/>
                </a:solidFill>
                <a:latin typeface="Aptos"/>
              </a:rPr>
              <a:t>Signed SSO can also auto-complete the Gmail login flow by trusting the master Field Rep ID inside the URL or JWT payload.</a:t>
            </a:r>
          </a:p>
          <a:p>
            <a:pPr algn="l"/>
            <a:r>
              <a:rPr sz="1800">
                <a:solidFill>
                  <a:srgbClr val="102A43"/>
                </a:solidFill>
                <a:latin typeface="Aptos"/>
              </a:rPr>
              <a:t>Campaign context can travel in the query string or session so a rep is taken directly into the correct campaign after login.</a:t>
            </a:r>
          </a:p>
          <a:p>
            <a:pPr algn="l"/>
            <a:r>
              <a:rPr sz="1800">
                <a:solidFill>
                  <a:srgbClr val="102A43"/>
                </a:solidFill>
                <a:latin typeface="Aptos"/>
              </a:rPr>
              <a:t>The field-rep background can be campaign-specific when the campaign has a configured background image.</a:t>
            </a:r>
          </a:p>
        </p:txBody>
      </p:sp>
      <p:sp>
        <p:nvSpPr>
          <p:cNvPr id="18" name="TextBox 17"/>
          <p:cNvSpPr txBox="1"/>
          <p:nvPr/>
        </p:nvSpPr>
        <p:spPr>
          <a:xfrm>
            <a:off x="502920" y="6400800"/>
            <a:ext cx="10972800" cy="182880"/>
          </a:xfrm>
          <a:prstGeom prst="rect">
            <a:avLst/>
          </a:prstGeom>
          <a:noFill/>
        </p:spPr>
        <p:txBody>
          <a:bodyPr wrap="square" anchor="t">
            <a:spAutoFit/>
          </a:bodyPr>
          <a:lstStyle/>
          <a:p>
            <a:pPr algn="l"/>
            <a:r>
              <a:rPr sz="1000" b="0">
                <a:solidFill>
                  <a:srgbClr val="52667A"/>
                </a:solidFill>
                <a:latin typeface="Aptos"/>
              </a:rPr>
              <a:t>Source manual: docs/product-user-flows/06-field-rep-registration-and-login.md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1234440" cy="109728"/>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326880" cy="292608"/>
          </a:xfrm>
          <a:prstGeom prst="rect">
            <a:avLst/>
          </a:prstGeom>
          <a:noFill/>
        </p:spPr>
        <p:txBody>
          <a:bodyPr wrap="square" anchor="t">
            <a:spAutoFit/>
          </a:bodyPr>
          <a:lstStyle/>
          <a:p>
            <a:pPr algn="l"/>
            <a:r>
              <a:rPr sz="1800" b="1">
                <a:solidFill>
                  <a:srgbClr val="FFFFFF"/>
                </a:solidFill>
                <a:latin typeface="Aptos"/>
              </a:rPr>
              <a:t>Step 1: Open the legacy registration route and observe the redirect</a:t>
            </a:r>
          </a:p>
        </p:txBody>
      </p:sp>
      <p:sp>
        <p:nvSpPr>
          <p:cNvPr id="5" name="TextBox 4"/>
          <p:cNvSpPr txBox="1"/>
          <p:nvPr/>
        </p:nvSpPr>
        <p:spPr>
          <a:xfrm>
            <a:off x="8503920" y="182880"/>
            <a:ext cx="3108960" cy="228600"/>
          </a:xfrm>
          <a:prstGeom prst="rect">
            <a:avLst/>
          </a:prstGeom>
          <a:noFill/>
        </p:spPr>
        <p:txBody>
          <a:bodyPr wrap="square" anchor="t">
            <a:spAutoFit/>
          </a:bodyPr>
          <a:lstStyle/>
          <a:p>
            <a:pPr algn="r"/>
            <a:r>
              <a:rPr sz="1100" b="0">
                <a:solidFill>
                  <a:srgbClr val="FFFFFF"/>
                </a:solidFill>
                <a:latin typeface="Aptos"/>
              </a:rPr>
              <a:t>Field Rep Registration and Login</a:t>
            </a:r>
          </a:p>
        </p:txBody>
      </p:sp>
      <p:sp>
        <p:nvSpPr>
          <p:cNvPr id="6" name="Rounded Rectangle 5"/>
          <p:cNvSpPr/>
          <p:nvPr/>
        </p:nvSpPr>
        <p:spPr>
          <a:xfrm>
            <a:off x="502920" y="914400"/>
            <a:ext cx="457200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097280"/>
            <a:ext cx="3931920" cy="4754880"/>
          </a:xfrm>
          <a:prstGeom prst="rect">
            <a:avLst/>
          </a:prstGeom>
          <a:noFill/>
        </p:spPr>
        <p:txBody>
          <a:bodyPr wrap="square" lIns="0" rIns="0" tIns="0" bIns="0">
            <a:spAutoFit/>
          </a:bodyPr>
          <a:lstStyle/>
          <a:p>
            <a:pPr algn="l">
              <a:spcBef>
                <a:spcPts val="0"/>
              </a:spcBef>
              <a:spcAft>
                <a:spcPts val="200"/>
              </a:spcAft>
            </a:pPr>
            <a:r>
              <a:rPr sz="1200" b="1">
                <a:solidFill>
                  <a:srgbClr val="14B8A6"/>
                </a:solidFill>
                <a:latin typeface="Aptos"/>
              </a:rPr>
              <a:t>User action</a:t>
            </a:r>
          </a:p>
          <a:p>
            <a:pPr algn="l">
              <a:lnSpc>
                <a:spcPct val="110000"/>
              </a:lnSpc>
              <a:spcBef>
                <a:spcPts val="0"/>
              </a:spcBef>
              <a:spcAft>
                <a:spcPts val="800"/>
              </a:spcAft>
            </a:pPr>
            <a:r>
              <a:rPr sz="1300">
                <a:solidFill>
                  <a:srgbClr val="102A43"/>
                </a:solidFill>
                <a:latin typeface="Aptos"/>
              </a:rPr>
              <a:t>Launch the campaign-scoped registration URL that older launch materials may still reference.</a:t>
            </a:r>
          </a:p>
          <a:p>
            <a:pPr algn="l">
              <a:spcBef>
                <a:spcPts val="0"/>
              </a:spcBef>
              <a:spcAft>
                <a:spcPts val="200"/>
              </a:spcAft>
            </a:pPr>
            <a:r>
              <a:rPr sz="1200" b="1">
                <a:solidFill>
                  <a:srgbClr val="14B8A6"/>
                </a:solidFill>
                <a:latin typeface="Aptos"/>
              </a:rPr>
              <a:t>What appears on screen</a:t>
            </a:r>
          </a:p>
          <a:p>
            <a:pPr algn="l">
              <a:lnSpc>
                <a:spcPct val="110000"/>
              </a:lnSpc>
              <a:spcBef>
                <a:spcPts val="0"/>
              </a:spcBef>
              <a:spcAft>
                <a:spcPts val="800"/>
              </a:spcAft>
            </a:pPr>
            <a:r>
              <a:rPr sz="1300">
                <a:solidFill>
                  <a:srgbClr val="102A43"/>
                </a:solidFill>
                <a:latin typeface="Aptos"/>
              </a:rPr>
              <a:t>The Gmail/manual login page with an info banner stating that Field Rep registration is no longer required.</a:t>
            </a:r>
          </a:p>
          <a:p>
            <a:pPr algn="l">
              <a:spcBef>
                <a:spcPts val="0"/>
              </a:spcBef>
              <a:spcAft>
                <a:spcPts val="200"/>
              </a:spcAft>
            </a:pPr>
            <a:r>
              <a:rPr sz="1200" b="1">
                <a:solidFill>
                  <a:srgbClr val="14B8A6"/>
                </a:solidFill>
                <a:latin typeface="Aptos"/>
              </a:rPr>
              <a:t>Why it matters</a:t>
            </a:r>
          </a:p>
          <a:p>
            <a:pPr algn="l">
              <a:lnSpc>
                <a:spcPct val="110000"/>
              </a:lnSpc>
              <a:spcBef>
                <a:spcPts val="0"/>
              </a:spcBef>
              <a:spcAft>
                <a:spcPts val="800"/>
              </a:spcAft>
            </a:pPr>
            <a:r>
              <a:rPr sz="1300">
                <a:solidFill>
                  <a:srgbClr val="102A43"/>
                </a:solidFill>
                <a:latin typeface="Aptos"/>
              </a:rPr>
              <a:t>This explains the current product behavior when older documentation or bookmarks still point to the registration route.</a:t>
            </a:r>
          </a:p>
          <a:p>
            <a:pPr algn="l">
              <a:spcBef>
                <a:spcPts val="0"/>
              </a:spcBef>
              <a:spcAft>
                <a:spcPts val="200"/>
              </a:spcAft>
            </a:pPr>
            <a:r>
              <a:rPr sz="1200" b="1">
                <a:solidFill>
                  <a:srgbClr val="14B8A6"/>
                </a:solidFill>
                <a:latin typeface="Aptos"/>
              </a:rPr>
              <a:t>Expected result</a:t>
            </a:r>
          </a:p>
          <a:p>
            <a:pPr algn="l">
              <a:lnSpc>
                <a:spcPct val="110000"/>
              </a:lnSpc>
              <a:spcBef>
                <a:spcPts val="0"/>
              </a:spcBef>
              <a:spcAft>
                <a:spcPts val="800"/>
              </a:spcAft>
            </a:pPr>
            <a:r>
              <a:rPr sz="1300">
                <a:solidFill>
                  <a:srgbClr val="102A43"/>
                </a:solidFill>
                <a:latin typeface="Aptos"/>
              </a:rPr>
              <a:t>The rep lands on the active login surface instead of a self-service sign-up form.</a:t>
            </a:r>
          </a:p>
          <a:p>
            <a:pPr algn="l">
              <a:spcBef>
                <a:spcPts val="0"/>
              </a:spcBef>
              <a:spcAft>
                <a:spcPts val="200"/>
              </a:spcAft>
            </a:pPr>
            <a:r>
              <a:rPr sz="1200" b="1">
                <a:solidFill>
                  <a:srgbClr val="F97316"/>
                </a:solidFill>
                <a:latin typeface="Aptos"/>
              </a:rPr>
              <a:t>Trainer note</a:t>
            </a:r>
          </a:p>
          <a:p>
            <a:pPr algn="l">
              <a:lnSpc>
                <a:spcPct val="110000"/>
              </a:lnSpc>
              <a:spcBef>
                <a:spcPts val="0"/>
              </a:spcBef>
              <a:spcAft>
                <a:spcPts val="0"/>
              </a:spcAft>
            </a:pPr>
            <a:r>
              <a:rPr sz="1200">
                <a:solidFill>
                  <a:srgbClr val="52667A"/>
                </a:solidFill>
                <a:latin typeface="Aptos"/>
              </a:rPr>
              <a:t>Call this out explicitly during training so the audience understands that the route is compatibility-only and not a live onboarding wizard anymore.</a:t>
            </a:r>
          </a:p>
        </p:txBody>
      </p:sp>
      <p:sp>
        <p:nvSpPr>
          <p:cNvPr id="8" name="Rounded Rectangle 7"/>
          <p:cNvSpPr/>
          <p:nvPr/>
        </p:nvSpPr>
        <p:spPr>
          <a:xfrm>
            <a:off x="5303520" y="914400"/>
            <a:ext cx="635508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0" y="1097280"/>
            <a:ext cx="5669280" cy="228600"/>
          </a:xfrm>
          <a:prstGeom prst="rect">
            <a:avLst/>
          </a:prstGeom>
          <a:noFill/>
        </p:spPr>
        <p:txBody>
          <a:bodyPr wrap="square" anchor="t">
            <a:spAutoFit/>
          </a:bodyPr>
          <a:lstStyle/>
          <a:p>
            <a:pPr algn="l"/>
            <a:r>
              <a:rPr sz="1300" b="1">
                <a:solidFill>
                  <a:srgbClr val="14B8A6"/>
                </a:solidFill>
                <a:latin typeface="Aptos"/>
              </a:rPr>
              <a:t>Legacy registration URL redirecting into the current Gmail/manual login page.</a:t>
            </a:r>
          </a:p>
        </p:txBody>
      </p:sp>
      <p:pic>
        <p:nvPicPr>
          <p:cNvPr id="10" name="Picture 9" descr="fieldrep-register.png"/>
          <p:cNvPicPr>
            <a:picLocks noChangeAspect="1"/>
          </p:cNvPicPr>
          <p:nvPr/>
        </p:nvPicPr>
        <p:blipFill>
          <a:blip r:embed="rId2"/>
          <a:stretch>
            <a:fillRect/>
          </a:stretch>
        </p:blipFill>
        <p:spPr>
          <a:xfrm>
            <a:off x="5559552" y="1417320"/>
            <a:ext cx="5806440" cy="4160520"/>
          </a:xfrm>
          <a:prstGeom prst="rect">
            <a:avLst/>
          </a:prstGeom>
        </p:spPr>
      </p:pic>
      <p:sp>
        <p:nvSpPr>
          <p:cNvPr id="11" name="TextBox 10"/>
          <p:cNvSpPr txBox="1"/>
          <p:nvPr/>
        </p:nvSpPr>
        <p:spPr>
          <a:xfrm>
            <a:off x="5577840" y="5669280"/>
            <a:ext cx="5623560" cy="320040"/>
          </a:xfrm>
          <a:prstGeom prst="rect">
            <a:avLst/>
          </a:prstGeom>
          <a:noFill/>
        </p:spPr>
        <p:txBody>
          <a:bodyPr wrap="square" anchor="t">
            <a:spAutoFit/>
          </a:bodyPr>
          <a:lstStyle/>
          <a:p>
            <a:pPr algn="l"/>
            <a:r>
              <a:rPr sz="1100" b="0">
                <a:solidFill>
                  <a:srgbClr val="52667A"/>
                </a:solidFill>
                <a:latin typeface="Aptos"/>
              </a:rPr>
              <a:t>The informational banner and redirected login screen shown instead of the old registration form.</a:t>
            </a:r>
          </a:p>
        </p:txBody>
      </p:sp>
      <p:sp>
        <p:nvSpPr>
          <p:cNvPr id="12" name="TextBox 11"/>
          <p:cNvSpPr txBox="1"/>
          <p:nvPr/>
        </p:nvSpPr>
        <p:spPr>
          <a:xfrm>
            <a:off x="502920" y="6400800"/>
            <a:ext cx="10972800" cy="182880"/>
          </a:xfrm>
          <a:prstGeom prst="rect">
            <a:avLst/>
          </a:prstGeom>
          <a:noFill/>
        </p:spPr>
        <p:txBody>
          <a:bodyPr wrap="square" anchor="t">
            <a:spAutoFit/>
          </a:bodyPr>
          <a:lstStyle/>
          <a:p>
            <a:pPr algn="l"/>
            <a:r>
              <a:rPr sz="1000" b="0">
                <a:solidFill>
                  <a:srgbClr val="52667A"/>
                </a:solidFill>
                <a:latin typeface="Aptos"/>
              </a:rPr>
              <a:t>Screenshot asset: docs/product-user-flows/assets/field-rep-registration-and-login/fieldrep-register.png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1234440" cy="109728"/>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326880" cy="292608"/>
          </a:xfrm>
          <a:prstGeom prst="rect">
            <a:avLst/>
          </a:prstGeom>
          <a:noFill/>
        </p:spPr>
        <p:txBody>
          <a:bodyPr wrap="square" anchor="t">
            <a:spAutoFit/>
          </a:bodyPr>
          <a:lstStyle/>
          <a:p>
            <a:pPr algn="l"/>
            <a:r>
              <a:rPr sz="1800" b="1">
                <a:solidFill>
                  <a:srgbClr val="FFFFFF"/>
                </a:solidFill>
                <a:latin typeface="Aptos"/>
              </a:rPr>
              <a:t>Step 2: Open the legacy create-password route and confirm the new handoff</a:t>
            </a:r>
          </a:p>
        </p:txBody>
      </p:sp>
      <p:sp>
        <p:nvSpPr>
          <p:cNvPr id="5" name="TextBox 4"/>
          <p:cNvSpPr txBox="1"/>
          <p:nvPr/>
        </p:nvSpPr>
        <p:spPr>
          <a:xfrm>
            <a:off x="8503920" y="182880"/>
            <a:ext cx="3108960" cy="228600"/>
          </a:xfrm>
          <a:prstGeom prst="rect">
            <a:avLst/>
          </a:prstGeom>
          <a:noFill/>
        </p:spPr>
        <p:txBody>
          <a:bodyPr wrap="square" anchor="t">
            <a:spAutoFit/>
          </a:bodyPr>
          <a:lstStyle/>
          <a:p>
            <a:pPr algn="r"/>
            <a:r>
              <a:rPr sz="1100" b="0">
                <a:solidFill>
                  <a:srgbClr val="FFFFFF"/>
                </a:solidFill>
                <a:latin typeface="Aptos"/>
              </a:rPr>
              <a:t>Field Rep Registration and Login</a:t>
            </a:r>
          </a:p>
        </p:txBody>
      </p:sp>
      <p:sp>
        <p:nvSpPr>
          <p:cNvPr id="6" name="Rounded Rectangle 5"/>
          <p:cNvSpPr/>
          <p:nvPr/>
        </p:nvSpPr>
        <p:spPr>
          <a:xfrm>
            <a:off x="502920" y="914400"/>
            <a:ext cx="457200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097280"/>
            <a:ext cx="3931920" cy="4754880"/>
          </a:xfrm>
          <a:prstGeom prst="rect">
            <a:avLst/>
          </a:prstGeom>
          <a:noFill/>
        </p:spPr>
        <p:txBody>
          <a:bodyPr wrap="square" lIns="0" rIns="0" tIns="0" bIns="0">
            <a:spAutoFit/>
          </a:bodyPr>
          <a:lstStyle/>
          <a:p>
            <a:pPr algn="l">
              <a:spcBef>
                <a:spcPts val="0"/>
              </a:spcBef>
              <a:spcAft>
                <a:spcPts val="200"/>
              </a:spcAft>
            </a:pPr>
            <a:r>
              <a:rPr sz="1200" b="1">
                <a:solidFill>
                  <a:srgbClr val="14B8A6"/>
                </a:solidFill>
                <a:latin typeface="Aptos"/>
              </a:rPr>
              <a:t>User action</a:t>
            </a:r>
          </a:p>
          <a:p>
            <a:pPr algn="l">
              <a:lnSpc>
                <a:spcPct val="110000"/>
              </a:lnSpc>
              <a:spcBef>
                <a:spcPts val="0"/>
              </a:spcBef>
              <a:spcAft>
                <a:spcPts val="800"/>
              </a:spcAft>
            </a:pPr>
            <a:r>
              <a:rPr sz="1200">
                <a:solidFill>
                  <a:srgbClr val="102A43"/>
                </a:solidFill>
                <a:latin typeface="Aptos"/>
              </a:rPr>
              <a:t>Launch the create-password URL, optionally carrying the rep email, Field ID, and campaign in the query string.</a:t>
            </a:r>
          </a:p>
          <a:p>
            <a:pPr algn="l">
              <a:spcBef>
                <a:spcPts val="0"/>
              </a:spcBef>
              <a:spcAft>
                <a:spcPts val="200"/>
              </a:spcAft>
            </a:pPr>
            <a:r>
              <a:rPr sz="1200" b="1">
                <a:solidFill>
                  <a:srgbClr val="14B8A6"/>
                </a:solidFill>
                <a:latin typeface="Aptos"/>
              </a:rPr>
              <a:t>What appears on screen</a:t>
            </a:r>
          </a:p>
          <a:p>
            <a:pPr algn="l">
              <a:lnSpc>
                <a:spcPct val="110000"/>
              </a:lnSpc>
              <a:spcBef>
                <a:spcPts val="0"/>
              </a:spcBef>
              <a:spcAft>
                <a:spcPts val="800"/>
              </a:spcAft>
            </a:pPr>
            <a:r>
              <a:rPr sz="1200">
                <a:solidFill>
                  <a:srgbClr val="102A43"/>
                </a:solidFill>
                <a:latin typeface="Aptos"/>
              </a:rPr>
              <a:t>The same Gmail/manual login page, usually with the email and Field ID prefilled and the same informational banner.</a:t>
            </a:r>
          </a:p>
          <a:p>
            <a:pPr algn="l">
              <a:spcBef>
                <a:spcPts val="0"/>
              </a:spcBef>
              <a:spcAft>
                <a:spcPts val="200"/>
              </a:spcAft>
            </a:pPr>
            <a:r>
              <a:rPr sz="1200" b="1">
                <a:solidFill>
                  <a:srgbClr val="14B8A6"/>
                </a:solidFill>
                <a:latin typeface="Aptos"/>
              </a:rPr>
              <a:t>Why it matters</a:t>
            </a:r>
          </a:p>
          <a:p>
            <a:pPr algn="l">
              <a:lnSpc>
                <a:spcPct val="110000"/>
              </a:lnSpc>
              <a:spcBef>
                <a:spcPts val="0"/>
              </a:spcBef>
              <a:spcAft>
                <a:spcPts val="800"/>
              </a:spcAft>
            </a:pPr>
            <a:r>
              <a:rPr sz="1200">
                <a:solidFill>
                  <a:srgbClr val="102A43"/>
                </a:solidFill>
                <a:latin typeface="Aptos"/>
              </a:rPr>
              <a:t>This shows how older password-setup links now preserve context while handing the rep into the supported login path.</a:t>
            </a:r>
          </a:p>
          <a:p>
            <a:pPr algn="l">
              <a:spcBef>
                <a:spcPts val="0"/>
              </a:spcBef>
              <a:spcAft>
                <a:spcPts val="200"/>
              </a:spcAft>
            </a:pPr>
            <a:r>
              <a:rPr sz="1200" b="1">
                <a:solidFill>
                  <a:srgbClr val="14B8A6"/>
                </a:solidFill>
                <a:latin typeface="Aptos"/>
              </a:rPr>
              <a:t>Expected result</a:t>
            </a:r>
          </a:p>
          <a:p>
            <a:pPr algn="l">
              <a:lnSpc>
                <a:spcPct val="110000"/>
              </a:lnSpc>
              <a:spcBef>
                <a:spcPts val="0"/>
              </a:spcBef>
              <a:spcAft>
                <a:spcPts val="800"/>
              </a:spcAft>
            </a:pPr>
            <a:r>
              <a:rPr sz="1200">
                <a:solidFill>
                  <a:srgbClr val="102A43"/>
                </a:solidFill>
                <a:latin typeface="Aptos"/>
              </a:rPr>
              <a:t>The rep can continue with the current login flow without losing the campaign or identifier context.</a:t>
            </a:r>
          </a:p>
          <a:p>
            <a:pPr algn="l">
              <a:spcBef>
                <a:spcPts val="0"/>
              </a:spcBef>
              <a:spcAft>
                <a:spcPts val="200"/>
              </a:spcAft>
            </a:pPr>
            <a:r>
              <a:rPr sz="1200" b="1">
                <a:solidFill>
                  <a:srgbClr val="F97316"/>
                </a:solidFill>
                <a:latin typeface="Aptos"/>
              </a:rPr>
              <a:t>Trainer note</a:t>
            </a:r>
          </a:p>
          <a:p>
            <a:pPr algn="l">
              <a:lnSpc>
                <a:spcPct val="110000"/>
              </a:lnSpc>
              <a:spcBef>
                <a:spcPts val="0"/>
              </a:spcBef>
              <a:spcAft>
                <a:spcPts val="0"/>
              </a:spcAft>
            </a:pPr>
            <a:r>
              <a:rPr sz="1100">
                <a:solidFill>
                  <a:srgbClr val="52667A"/>
                </a:solidFill>
                <a:latin typeface="Aptos"/>
              </a:rPr>
              <a:t>Use this screen to explain that the product team simplified onboarding: reps are expected to log in, not create a new password from this route.</a:t>
            </a:r>
          </a:p>
        </p:txBody>
      </p:sp>
      <p:sp>
        <p:nvSpPr>
          <p:cNvPr id="8" name="Rounded Rectangle 7"/>
          <p:cNvSpPr/>
          <p:nvPr/>
        </p:nvSpPr>
        <p:spPr>
          <a:xfrm>
            <a:off x="5303520" y="914400"/>
            <a:ext cx="635508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0" y="1097280"/>
            <a:ext cx="5669280" cy="228600"/>
          </a:xfrm>
          <a:prstGeom prst="rect">
            <a:avLst/>
          </a:prstGeom>
          <a:noFill/>
        </p:spPr>
        <p:txBody>
          <a:bodyPr wrap="square" anchor="t">
            <a:spAutoFit/>
          </a:bodyPr>
          <a:lstStyle/>
          <a:p>
            <a:pPr algn="l"/>
            <a:r>
              <a:rPr sz="1300" b="1">
                <a:solidFill>
                  <a:srgbClr val="14B8A6"/>
                </a:solidFill>
                <a:latin typeface="Aptos"/>
              </a:rPr>
              <a:t>Legacy create-password URL redirecting into the current login page with preserved identifiers.</a:t>
            </a:r>
          </a:p>
        </p:txBody>
      </p:sp>
      <p:pic>
        <p:nvPicPr>
          <p:cNvPr id="10" name="Picture 9" descr="fieldrep-create-password.png"/>
          <p:cNvPicPr>
            <a:picLocks noChangeAspect="1"/>
          </p:cNvPicPr>
          <p:nvPr/>
        </p:nvPicPr>
        <p:blipFill>
          <a:blip r:embed="rId2"/>
          <a:stretch>
            <a:fillRect/>
          </a:stretch>
        </p:blipFill>
        <p:spPr>
          <a:xfrm>
            <a:off x="5559552" y="1417320"/>
            <a:ext cx="5806440" cy="4160520"/>
          </a:xfrm>
          <a:prstGeom prst="rect">
            <a:avLst/>
          </a:prstGeom>
        </p:spPr>
      </p:pic>
      <p:sp>
        <p:nvSpPr>
          <p:cNvPr id="11" name="TextBox 10"/>
          <p:cNvSpPr txBox="1"/>
          <p:nvPr/>
        </p:nvSpPr>
        <p:spPr>
          <a:xfrm>
            <a:off x="5577840" y="5669280"/>
            <a:ext cx="5623560" cy="320040"/>
          </a:xfrm>
          <a:prstGeom prst="rect">
            <a:avLst/>
          </a:prstGeom>
          <a:noFill/>
        </p:spPr>
        <p:txBody>
          <a:bodyPr wrap="square" anchor="t">
            <a:spAutoFit/>
          </a:bodyPr>
          <a:lstStyle/>
          <a:p>
            <a:pPr algn="l"/>
            <a:r>
              <a:rPr sz="1100" b="0">
                <a:solidFill>
                  <a:srgbClr val="52667A"/>
                </a:solidFill>
                <a:latin typeface="Aptos"/>
              </a:rPr>
              <a:t>The redirected Gmail/manual login form with prefilled rep context.</a:t>
            </a:r>
          </a:p>
        </p:txBody>
      </p:sp>
      <p:sp>
        <p:nvSpPr>
          <p:cNvPr id="12" name="TextBox 11"/>
          <p:cNvSpPr txBox="1"/>
          <p:nvPr/>
        </p:nvSpPr>
        <p:spPr>
          <a:xfrm>
            <a:off x="502920" y="6400800"/>
            <a:ext cx="10972800" cy="182880"/>
          </a:xfrm>
          <a:prstGeom prst="rect">
            <a:avLst/>
          </a:prstGeom>
          <a:noFill/>
        </p:spPr>
        <p:txBody>
          <a:bodyPr wrap="square" anchor="t">
            <a:spAutoFit/>
          </a:bodyPr>
          <a:lstStyle/>
          <a:p>
            <a:pPr algn="l"/>
            <a:r>
              <a:rPr sz="1000" b="0">
                <a:solidFill>
                  <a:srgbClr val="52667A"/>
                </a:solidFill>
                <a:latin typeface="Aptos"/>
              </a:rPr>
              <a:t>Screenshot asset: docs/product-user-flows/assets/field-rep-registration-and-login/fieldrep-create-password.png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1234440" cy="109728"/>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326880" cy="292608"/>
          </a:xfrm>
          <a:prstGeom prst="rect">
            <a:avLst/>
          </a:prstGeom>
          <a:noFill/>
        </p:spPr>
        <p:txBody>
          <a:bodyPr wrap="square" anchor="t">
            <a:spAutoFit/>
          </a:bodyPr>
          <a:lstStyle/>
          <a:p>
            <a:pPr algn="l"/>
            <a:r>
              <a:rPr sz="1800" b="1">
                <a:solidFill>
                  <a:srgbClr val="FFFFFF"/>
                </a:solidFill>
                <a:latin typeface="Aptos"/>
              </a:rPr>
              <a:t>Step 3: Review the direct email/password login screen</a:t>
            </a:r>
          </a:p>
        </p:txBody>
      </p:sp>
      <p:sp>
        <p:nvSpPr>
          <p:cNvPr id="5" name="TextBox 4"/>
          <p:cNvSpPr txBox="1"/>
          <p:nvPr/>
        </p:nvSpPr>
        <p:spPr>
          <a:xfrm>
            <a:off x="8503920" y="182880"/>
            <a:ext cx="3108960" cy="228600"/>
          </a:xfrm>
          <a:prstGeom prst="rect">
            <a:avLst/>
          </a:prstGeom>
          <a:noFill/>
        </p:spPr>
        <p:txBody>
          <a:bodyPr wrap="square" anchor="t">
            <a:spAutoFit/>
          </a:bodyPr>
          <a:lstStyle/>
          <a:p>
            <a:pPr algn="r"/>
            <a:r>
              <a:rPr sz="1100" b="0">
                <a:solidFill>
                  <a:srgbClr val="FFFFFF"/>
                </a:solidFill>
                <a:latin typeface="Aptos"/>
              </a:rPr>
              <a:t>Field Rep Registration and Login</a:t>
            </a:r>
          </a:p>
        </p:txBody>
      </p:sp>
      <p:sp>
        <p:nvSpPr>
          <p:cNvPr id="6" name="Rounded Rectangle 5"/>
          <p:cNvSpPr/>
          <p:nvPr/>
        </p:nvSpPr>
        <p:spPr>
          <a:xfrm>
            <a:off x="502920" y="914400"/>
            <a:ext cx="457200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097280"/>
            <a:ext cx="3931920" cy="4754880"/>
          </a:xfrm>
          <a:prstGeom prst="rect">
            <a:avLst/>
          </a:prstGeom>
          <a:noFill/>
        </p:spPr>
        <p:txBody>
          <a:bodyPr wrap="square" lIns="0" rIns="0" tIns="0" bIns="0">
            <a:spAutoFit/>
          </a:bodyPr>
          <a:lstStyle/>
          <a:p>
            <a:pPr algn="l">
              <a:spcBef>
                <a:spcPts val="0"/>
              </a:spcBef>
              <a:spcAft>
                <a:spcPts val="200"/>
              </a:spcAft>
            </a:pPr>
            <a:r>
              <a:rPr sz="1200" b="1">
                <a:solidFill>
                  <a:srgbClr val="14B8A6"/>
                </a:solidFill>
                <a:latin typeface="Aptos"/>
              </a:rPr>
              <a:t>User action</a:t>
            </a:r>
          </a:p>
          <a:p>
            <a:pPr algn="l">
              <a:lnSpc>
                <a:spcPct val="110000"/>
              </a:lnSpc>
              <a:spcBef>
                <a:spcPts val="0"/>
              </a:spcBef>
              <a:spcAft>
                <a:spcPts val="800"/>
              </a:spcAft>
            </a:pPr>
            <a:r>
              <a:rPr sz="1300">
                <a:solidFill>
                  <a:srgbClr val="102A43"/>
                </a:solidFill>
                <a:latin typeface="Aptos"/>
              </a:rPr>
              <a:t>Open the field-rep login page tied to the active campaign.</a:t>
            </a:r>
          </a:p>
          <a:p>
            <a:pPr algn="l">
              <a:spcBef>
                <a:spcPts val="0"/>
              </a:spcBef>
              <a:spcAft>
                <a:spcPts val="200"/>
              </a:spcAft>
            </a:pPr>
            <a:r>
              <a:rPr sz="1200" b="1">
                <a:solidFill>
                  <a:srgbClr val="14B8A6"/>
                </a:solidFill>
                <a:latin typeface="Aptos"/>
              </a:rPr>
              <a:t>What appears on screen</a:t>
            </a:r>
          </a:p>
          <a:p>
            <a:pPr algn="l">
              <a:lnSpc>
                <a:spcPct val="110000"/>
              </a:lnSpc>
              <a:spcBef>
                <a:spcPts val="0"/>
              </a:spcBef>
              <a:spcAft>
                <a:spcPts val="800"/>
              </a:spcAft>
            </a:pPr>
            <a:r>
              <a:rPr sz="1300">
                <a:solidFill>
                  <a:srgbClr val="102A43"/>
                </a:solidFill>
                <a:latin typeface="Aptos"/>
              </a:rPr>
              <a:t>A focused login form that asks for email and password, preserves campaign context, and exposes a `Forgot Password?` link below the primary login button.</a:t>
            </a:r>
          </a:p>
          <a:p>
            <a:pPr algn="l">
              <a:spcBef>
                <a:spcPts val="0"/>
              </a:spcBef>
              <a:spcAft>
                <a:spcPts val="200"/>
              </a:spcAft>
            </a:pPr>
            <a:r>
              <a:rPr sz="1200" b="1">
                <a:solidFill>
                  <a:srgbClr val="14B8A6"/>
                </a:solidFill>
                <a:latin typeface="Aptos"/>
              </a:rPr>
              <a:t>Why it matters</a:t>
            </a:r>
          </a:p>
          <a:p>
            <a:pPr algn="l">
              <a:lnSpc>
                <a:spcPct val="110000"/>
              </a:lnSpc>
              <a:spcBef>
                <a:spcPts val="0"/>
              </a:spcBef>
              <a:spcAft>
                <a:spcPts val="800"/>
              </a:spcAft>
            </a:pPr>
            <a:r>
              <a:rPr sz="1300">
                <a:solidFill>
                  <a:srgbClr val="102A43"/>
                </a:solidFill>
                <a:latin typeface="Aptos"/>
              </a:rPr>
              <a:t>This is the most straightforward rep-login method for routine use.</a:t>
            </a:r>
          </a:p>
          <a:p>
            <a:pPr algn="l">
              <a:spcBef>
                <a:spcPts val="0"/>
              </a:spcBef>
              <a:spcAft>
                <a:spcPts val="200"/>
              </a:spcAft>
            </a:pPr>
            <a:r>
              <a:rPr sz="1200" b="1">
                <a:solidFill>
                  <a:srgbClr val="14B8A6"/>
                </a:solidFill>
                <a:latin typeface="Aptos"/>
              </a:rPr>
              <a:t>Expected result</a:t>
            </a:r>
          </a:p>
          <a:p>
            <a:pPr algn="l">
              <a:lnSpc>
                <a:spcPct val="110000"/>
              </a:lnSpc>
              <a:spcBef>
                <a:spcPts val="0"/>
              </a:spcBef>
              <a:spcAft>
                <a:spcPts val="800"/>
              </a:spcAft>
            </a:pPr>
            <a:r>
              <a:rPr sz="1300">
                <a:solidFill>
                  <a:srgbClr val="102A43"/>
                </a:solidFill>
                <a:latin typeface="Aptos"/>
              </a:rPr>
              <a:t>The rep knows where to enter their standard credentials when the campaign requires the password flow.</a:t>
            </a:r>
          </a:p>
          <a:p>
            <a:pPr algn="l">
              <a:spcBef>
                <a:spcPts val="0"/>
              </a:spcBef>
              <a:spcAft>
                <a:spcPts val="200"/>
              </a:spcAft>
            </a:pPr>
            <a:r>
              <a:rPr sz="1200" b="1">
                <a:solidFill>
                  <a:srgbClr val="F97316"/>
                </a:solidFill>
                <a:latin typeface="Aptos"/>
              </a:rPr>
              <a:t>Trainer note</a:t>
            </a:r>
          </a:p>
          <a:p>
            <a:pPr algn="l">
              <a:lnSpc>
                <a:spcPct val="110000"/>
              </a:lnSpc>
              <a:spcBef>
                <a:spcPts val="0"/>
              </a:spcBef>
              <a:spcAft>
                <a:spcPts val="0"/>
              </a:spcAft>
            </a:pPr>
            <a:r>
              <a:rPr sz="1200">
                <a:solidFill>
                  <a:srgbClr val="52667A"/>
                </a:solidFill>
                <a:latin typeface="Aptos"/>
              </a:rPr>
              <a:t>If the audience asks which login path to use, clarify what the current campaign rollout recommends before moving into the next workflow deck.</a:t>
            </a:r>
          </a:p>
        </p:txBody>
      </p:sp>
      <p:sp>
        <p:nvSpPr>
          <p:cNvPr id="8" name="Rounded Rectangle 7"/>
          <p:cNvSpPr/>
          <p:nvPr/>
        </p:nvSpPr>
        <p:spPr>
          <a:xfrm>
            <a:off x="5303520" y="914400"/>
            <a:ext cx="635508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0" y="1097280"/>
            <a:ext cx="5669280" cy="228600"/>
          </a:xfrm>
          <a:prstGeom prst="rect">
            <a:avLst/>
          </a:prstGeom>
          <a:noFill/>
        </p:spPr>
        <p:txBody>
          <a:bodyPr wrap="square" anchor="t">
            <a:spAutoFit/>
          </a:bodyPr>
          <a:lstStyle/>
          <a:p>
            <a:pPr algn="l"/>
            <a:r>
              <a:rPr sz="1300" b="1">
                <a:solidFill>
                  <a:srgbClr val="14B8A6"/>
                </a:solidFill>
                <a:latin typeface="Aptos"/>
              </a:rPr>
              <a:t>Email/password field-rep login page for the selected campaign.</a:t>
            </a:r>
          </a:p>
        </p:txBody>
      </p:sp>
      <p:pic>
        <p:nvPicPr>
          <p:cNvPr id="10" name="Picture 9" descr="fieldrep-login.png"/>
          <p:cNvPicPr>
            <a:picLocks noChangeAspect="1"/>
          </p:cNvPicPr>
          <p:nvPr/>
        </p:nvPicPr>
        <p:blipFill>
          <a:blip r:embed="rId2"/>
          <a:stretch>
            <a:fillRect/>
          </a:stretch>
        </p:blipFill>
        <p:spPr>
          <a:xfrm>
            <a:off x="5559552" y="1417320"/>
            <a:ext cx="5806440" cy="4160520"/>
          </a:xfrm>
          <a:prstGeom prst="rect">
            <a:avLst/>
          </a:prstGeom>
        </p:spPr>
      </p:pic>
      <p:sp>
        <p:nvSpPr>
          <p:cNvPr id="11" name="TextBox 10"/>
          <p:cNvSpPr txBox="1"/>
          <p:nvPr/>
        </p:nvSpPr>
        <p:spPr>
          <a:xfrm>
            <a:off x="5577840" y="5669280"/>
            <a:ext cx="5623560" cy="320040"/>
          </a:xfrm>
          <a:prstGeom prst="rect">
            <a:avLst/>
          </a:prstGeom>
          <a:noFill/>
        </p:spPr>
        <p:txBody>
          <a:bodyPr wrap="square" anchor="t">
            <a:spAutoFit/>
          </a:bodyPr>
          <a:lstStyle/>
          <a:p>
            <a:pPr algn="l"/>
            <a:r>
              <a:rPr sz="1100" b="0">
                <a:solidFill>
                  <a:srgbClr val="52667A"/>
                </a:solidFill>
                <a:latin typeface="Aptos"/>
              </a:rPr>
              <a:t>The direct credential-entry option for field reps.</a:t>
            </a:r>
          </a:p>
        </p:txBody>
      </p:sp>
      <p:sp>
        <p:nvSpPr>
          <p:cNvPr id="12" name="TextBox 11"/>
          <p:cNvSpPr txBox="1"/>
          <p:nvPr/>
        </p:nvSpPr>
        <p:spPr>
          <a:xfrm>
            <a:off x="502920" y="6400800"/>
            <a:ext cx="10972800" cy="182880"/>
          </a:xfrm>
          <a:prstGeom prst="rect">
            <a:avLst/>
          </a:prstGeom>
          <a:noFill/>
        </p:spPr>
        <p:txBody>
          <a:bodyPr wrap="square" anchor="t">
            <a:spAutoFit/>
          </a:bodyPr>
          <a:lstStyle/>
          <a:p>
            <a:pPr algn="l"/>
            <a:r>
              <a:rPr sz="1000" b="0">
                <a:solidFill>
                  <a:srgbClr val="52667A"/>
                </a:solidFill>
                <a:latin typeface="Aptos"/>
              </a:rPr>
              <a:t>Screenshot asset: docs/product-user-flows/assets/field-rep-registration-and-login/fieldrep-login.png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1234440" cy="109728"/>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326880" cy="292608"/>
          </a:xfrm>
          <a:prstGeom prst="rect">
            <a:avLst/>
          </a:prstGeom>
          <a:noFill/>
        </p:spPr>
        <p:txBody>
          <a:bodyPr wrap="square" anchor="t">
            <a:spAutoFit/>
          </a:bodyPr>
          <a:lstStyle/>
          <a:p>
            <a:pPr algn="l"/>
            <a:r>
              <a:rPr sz="1800" b="1">
                <a:solidFill>
                  <a:srgbClr val="FFFFFF"/>
                </a:solidFill>
                <a:latin typeface="Aptos"/>
              </a:rPr>
              <a:t>Step 4: Recover access with the security-question flow when needed</a:t>
            </a:r>
          </a:p>
        </p:txBody>
      </p:sp>
      <p:sp>
        <p:nvSpPr>
          <p:cNvPr id="5" name="TextBox 4"/>
          <p:cNvSpPr txBox="1"/>
          <p:nvPr/>
        </p:nvSpPr>
        <p:spPr>
          <a:xfrm>
            <a:off x="8503920" y="182880"/>
            <a:ext cx="3108960" cy="228600"/>
          </a:xfrm>
          <a:prstGeom prst="rect">
            <a:avLst/>
          </a:prstGeom>
          <a:noFill/>
        </p:spPr>
        <p:txBody>
          <a:bodyPr wrap="square" anchor="t">
            <a:spAutoFit/>
          </a:bodyPr>
          <a:lstStyle/>
          <a:p>
            <a:pPr algn="r"/>
            <a:r>
              <a:rPr sz="1100" b="0">
                <a:solidFill>
                  <a:srgbClr val="FFFFFF"/>
                </a:solidFill>
                <a:latin typeface="Aptos"/>
              </a:rPr>
              <a:t>Field Rep Registration and Login</a:t>
            </a:r>
          </a:p>
        </p:txBody>
      </p:sp>
      <p:sp>
        <p:nvSpPr>
          <p:cNvPr id="6" name="Rounded Rectangle 5"/>
          <p:cNvSpPr/>
          <p:nvPr/>
        </p:nvSpPr>
        <p:spPr>
          <a:xfrm>
            <a:off x="502920" y="914400"/>
            <a:ext cx="457200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097280"/>
            <a:ext cx="3931920" cy="4754880"/>
          </a:xfrm>
          <a:prstGeom prst="rect">
            <a:avLst/>
          </a:prstGeom>
          <a:noFill/>
        </p:spPr>
        <p:txBody>
          <a:bodyPr wrap="square" lIns="0" rIns="0" tIns="0" bIns="0">
            <a:spAutoFit/>
          </a:bodyPr>
          <a:lstStyle/>
          <a:p>
            <a:pPr algn="l">
              <a:spcBef>
                <a:spcPts val="0"/>
              </a:spcBef>
              <a:spcAft>
                <a:spcPts val="200"/>
              </a:spcAft>
            </a:pPr>
            <a:r>
              <a:rPr sz="1200" b="1">
                <a:solidFill>
                  <a:srgbClr val="14B8A6"/>
                </a:solidFill>
                <a:latin typeface="Aptos"/>
              </a:rPr>
              <a:t>User action</a:t>
            </a:r>
          </a:p>
          <a:p>
            <a:pPr algn="l">
              <a:lnSpc>
                <a:spcPct val="110000"/>
              </a:lnSpc>
              <a:spcBef>
                <a:spcPts val="0"/>
              </a:spcBef>
              <a:spcAft>
                <a:spcPts val="800"/>
              </a:spcAft>
            </a:pPr>
            <a:r>
              <a:rPr sz="1200">
                <a:solidFill>
                  <a:srgbClr val="102A43"/>
                </a:solidFill>
                <a:latin typeface="Aptos"/>
              </a:rPr>
              <a:t>Use the `Forgot Password?` link, enter the rep email, answer the configured security question, and continue to the reset-password page.</a:t>
            </a:r>
          </a:p>
          <a:p>
            <a:pPr algn="l">
              <a:spcBef>
                <a:spcPts val="0"/>
              </a:spcBef>
              <a:spcAft>
                <a:spcPts val="200"/>
              </a:spcAft>
            </a:pPr>
            <a:r>
              <a:rPr sz="1200" b="1">
                <a:solidFill>
                  <a:srgbClr val="14B8A6"/>
                </a:solidFill>
                <a:latin typeface="Aptos"/>
              </a:rPr>
              <a:t>What appears on screen</a:t>
            </a:r>
          </a:p>
          <a:p>
            <a:pPr algn="l">
              <a:lnSpc>
                <a:spcPct val="110000"/>
              </a:lnSpc>
              <a:spcBef>
                <a:spcPts val="0"/>
              </a:spcBef>
              <a:spcAft>
                <a:spcPts val="800"/>
              </a:spcAft>
            </a:pPr>
            <a:r>
              <a:rPr sz="1200">
                <a:solidFill>
                  <a:srgbClr val="102A43"/>
                </a:solidFill>
                <a:latin typeface="Aptos"/>
              </a:rPr>
              <a:t>A two-stage recovery screen that first asks for the email address, then shows the rep's saved security question and answer field before allowing a reset.</a:t>
            </a:r>
          </a:p>
          <a:p>
            <a:pPr algn="l">
              <a:spcBef>
                <a:spcPts val="0"/>
              </a:spcBef>
              <a:spcAft>
                <a:spcPts val="200"/>
              </a:spcAft>
            </a:pPr>
            <a:r>
              <a:rPr sz="1200" b="1">
                <a:solidFill>
                  <a:srgbClr val="14B8A6"/>
                </a:solidFill>
                <a:latin typeface="Aptos"/>
              </a:rPr>
              <a:t>Why it matters</a:t>
            </a:r>
          </a:p>
          <a:p>
            <a:pPr algn="l">
              <a:lnSpc>
                <a:spcPct val="110000"/>
              </a:lnSpc>
              <a:spcBef>
                <a:spcPts val="0"/>
              </a:spcBef>
              <a:spcAft>
                <a:spcPts val="800"/>
              </a:spcAft>
            </a:pPr>
            <a:r>
              <a:rPr sz="1200">
                <a:solidFill>
                  <a:srgbClr val="102A43"/>
                </a:solidFill>
                <a:latin typeface="Aptos"/>
              </a:rPr>
              <a:t>This is the live fallback when a rep remembers their email but not their current password.</a:t>
            </a:r>
          </a:p>
          <a:p>
            <a:pPr algn="l">
              <a:spcBef>
                <a:spcPts val="0"/>
              </a:spcBef>
              <a:spcAft>
                <a:spcPts val="200"/>
              </a:spcAft>
            </a:pPr>
            <a:r>
              <a:rPr sz="1200" b="1">
                <a:solidFill>
                  <a:srgbClr val="14B8A6"/>
                </a:solidFill>
                <a:latin typeface="Aptos"/>
              </a:rPr>
              <a:t>Expected result</a:t>
            </a:r>
          </a:p>
          <a:p>
            <a:pPr algn="l">
              <a:lnSpc>
                <a:spcPct val="110000"/>
              </a:lnSpc>
              <a:spcBef>
                <a:spcPts val="0"/>
              </a:spcBef>
              <a:spcAft>
                <a:spcPts val="800"/>
              </a:spcAft>
            </a:pPr>
            <a:r>
              <a:rPr sz="1200">
                <a:solidFill>
                  <a:srgbClr val="102A43"/>
                </a:solidFill>
                <a:latin typeface="Aptos"/>
              </a:rPr>
              <a:t>The rep can reach the reset-password step without staff manually changing credentials.</a:t>
            </a:r>
          </a:p>
          <a:p>
            <a:pPr algn="l">
              <a:spcBef>
                <a:spcPts val="0"/>
              </a:spcBef>
              <a:spcAft>
                <a:spcPts val="200"/>
              </a:spcAft>
            </a:pPr>
            <a:r>
              <a:rPr sz="1200" b="1">
                <a:solidFill>
                  <a:srgbClr val="F97316"/>
                </a:solidFill>
                <a:latin typeface="Aptos"/>
              </a:rPr>
              <a:t>Trainer note</a:t>
            </a:r>
          </a:p>
          <a:p>
            <a:pPr algn="l">
              <a:lnSpc>
                <a:spcPct val="110000"/>
              </a:lnSpc>
              <a:spcBef>
                <a:spcPts val="0"/>
              </a:spcBef>
              <a:spcAft>
                <a:spcPts val="0"/>
              </a:spcAft>
            </a:pPr>
            <a:r>
              <a:rPr sz="1100">
                <a:solidFill>
                  <a:srgbClr val="52667A"/>
                </a:solidFill>
                <a:latin typeface="Aptos"/>
              </a:rPr>
              <a:t>Recovery only works if the rep has a security profile and answer configured. If not, the current product tells the user to contact admin.</a:t>
            </a:r>
          </a:p>
        </p:txBody>
      </p:sp>
      <p:sp>
        <p:nvSpPr>
          <p:cNvPr id="8" name="Rounded Rectangle 7"/>
          <p:cNvSpPr/>
          <p:nvPr/>
        </p:nvSpPr>
        <p:spPr>
          <a:xfrm>
            <a:off x="5303520" y="914400"/>
            <a:ext cx="635508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0" y="1097280"/>
            <a:ext cx="5669280" cy="228600"/>
          </a:xfrm>
          <a:prstGeom prst="rect">
            <a:avLst/>
          </a:prstGeom>
          <a:noFill/>
        </p:spPr>
        <p:txBody>
          <a:bodyPr wrap="square" anchor="t">
            <a:spAutoFit/>
          </a:bodyPr>
          <a:lstStyle/>
          <a:p>
            <a:pPr algn="l"/>
            <a:r>
              <a:rPr sz="1300" b="1">
                <a:solidFill>
                  <a:srgbClr val="14B8A6"/>
                </a:solidFill>
                <a:latin typeface="Aptos"/>
              </a:rPr>
              <a:t>Field-rep recovery screen showing the security-question challenge before password reset.</a:t>
            </a:r>
          </a:p>
        </p:txBody>
      </p:sp>
      <p:pic>
        <p:nvPicPr>
          <p:cNvPr id="10" name="Picture 9" descr="fieldrep-forgot-password.png"/>
          <p:cNvPicPr>
            <a:picLocks noChangeAspect="1"/>
          </p:cNvPicPr>
          <p:nvPr/>
        </p:nvPicPr>
        <p:blipFill>
          <a:blip r:embed="rId2"/>
          <a:stretch>
            <a:fillRect/>
          </a:stretch>
        </p:blipFill>
        <p:spPr>
          <a:xfrm>
            <a:off x="5559552" y="1417320"/>
            <a:ext cx="5806440" cy="4160520"/>
          </a:xfrm>
          <a:prstGeom prst="rect">
            <a:avLst/>
          </a:prstGeom>
        </p:spPr>
      </p:pic>
      <p:sp>
        <p:nvSpPr>
          <p:cNvPr id="11" name="TextBox 10"/>
          <p:cNvSpPr txBox="1"/>
          <p:nvPr/>
        </p:nvSpPr>
        <p:spPr>
          <a:xfrm>
            <a:off x="5577840" y="5669280"/>
            <a:ext cx="5623560" cy="320040"/>
          </a:xfrm>
          <a:prstGeom prst="rect">
            <a:avLst/>
          </a:prstGeom>
          <a:noFill/>
        </p:spPr>
        <p:txBody>
          <a:bodyPr wrap="square" anchor="t">
            <a:spAutoFit/>
          </a:bodyPr>
          <a:lstStyle/>
          <a:p>
            <a:pPr algn="l"/>
            <a:r>
              <a:rPr sz="1100" b="0">
                <a:solidFill>
                  <a:srgbClr val="52667A"/>
                </a:solidFill>
                <a:latin typeface="Aptos"/>
              </a:rPr>
              <a:t>The recovery path that bridges from forgotten password into reset-password.</a:t>
            </a:r>
          </a:p>
        </p:txBody>
      </p:sp>
      <p:sp>
        <p:nvSpPr>
          <p:cNvPr id="12" name="TextBox 11"/>
          <p:cNvSpPr txBox="1"/>
          <p:nvPr/>
        </p:nvSpPr>
        <p:spPr>
          <a:xfrm>
            <a:off x="502920" y="6400800"/>
            <a:ext cx="10972800" cy="182880"/>
          </a:xfrm>
          <a:prstGeom prst="rect">
            <a:avLst/>
          </a:prstGeom>
          <a:noFill/>
        </p:spPr>
        <p:txBody>
          <a:bodyPr wrap="square" anchor="t">
            <a:spAutoFit/>
          </a:bodyPr>
          <a:lstStyle/>
          <a:p>
            <a:pPr algn="l"/>
            <a:r>
              <a:rPr sz="1000" b="0">
                <a:solidFill>
                  <a:srgbClr val="52667A"/>
                </a:solidFill>
                <a:latin typeface="Aptos"/>
              </a:rPr>
              <a:t>Screenshot asset: docs/product-user-flows/assets/field-rep-registration-and-login/fieldrep-forgot-password.png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1234440" cy="109728"/>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326880" cy="292608"/>
          </a:xfrm>
          <a:prstGeom prst="rect">
            <a:avLst/>
          </a:prstGeom>
          <a:noFill/>
        </p:spPr>
        <p:txBody>
          <a:bodyPr wrap="square" anchor="t">
            <a:spAutoFit/>
          </a:bodyPr>
          <a:lstStyle/>
          <a:p>
            <a:pPr algn="l"/>
            <a:r>
              <a:rPr sz="1800" b="1">
                <a:solidFill>
                  <a:srgbClr val="FFFFFF"/>
                </a:solidFill>
                <a:latin typeface="Aptos"/>
              </a:rPr>
              <a:t>Step 5: Use the active Gmail/manual or SSO login path</a:t>
            </a:r>
          </a:p>
        </p:txBody>
      </p:sp>
      <p:sp>
        <p:nvSpPr>
          <p:cNvPr id="5" name="TextBox 4"/>
          <p:cNvSpPr txBox="1"/>
          <p:nvPr/>
        </p:nvSpPr>
        <p:spPr>
          <a:xfrm>
            <a:off x="8503920" y="182880"/>
            <a:ext cx="3108960" cy="228600"/>
          </a:xfrm>
          <a:prstGeom prst="rect">
            <a:avLst/>
          </a:prstGeom>
          <a:noFill/>
        </p:spPr>
        <p:txBody>
          <a:bodyPr wrap="square" anchor="t">
            <a:spAutoFit/>
          </a:bodyPr>
          <a:lstStyle/>
          <a:p>
            <a:pPr algn="r"/>
            <a:r>
              <a:rPr sz="1100" b="0">
                <a:solidFill>
                  <a:srgbClr val="FFFFFF"/>
                </a:solidFill>
                <a:latin typeface="Aptos"/>
              </a:rPr>
              <a:t>Field Rep Registration and Login</a:t>
            </a:r>
          </a:p>
        </p:txBody>
      </p:sp>
      <p:sp>
        <p:nvSpPr>
          <p:cNvPr id="6" name="Rounded Rectangle 5"/>
          <p:cNvSpPr/>
          <p:nvPr/>
        </p:nvSpPr>
        <p:spPr>
          <a:xfrm>
            <a:off x="502920" y="914400"/>
            <a:ext cx="457200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097280"/>
            <a:ext cx="3931920" cy="4754880"/>
          </a:xfrm>
          <a:prstGeom prst="rect">
            <a:avLst/>
          </a:prstGeom>
          <a:noFill/>
        </p:spPr>
        <p:txBody>
          <a:bodyPr wrap="square" lIns="0" rIns="0" tIns="0" bIns="0">
            <a:spAutoFit/>
          </a:bodyPr>
          <a:lstStyle/>
          <a:p>
            <a:pPr algn="l">
              <a:spcBef>
                <a:spcPts val="0"/>
              </a:spcBef>
              <a:spcAft>
                <a:spcPts val="200"/>
              </a:spcAft>
            </a:pPr>
            <a:r>
              <a:rPr sz="1200" b="1">
                <a:solidFill>
                  <a:srgbClr val="14B8A6"/>
                </a:solidFill>
                <a:latin typeface="Aptos"/>
              </a:rPr>
              <a:t>User action</a:t>
            </a:r>
          </a:p>
          <a:p>
            <a:pPr algn="l">
              <a:lnSpc>
                <a:spcPct val="110000"/>
              </a:lnSpc>
              <a:spcBef>
                <a:spcPts val="0"/>
              </a:spcBef>
              <a:spcAft>
                <a:spcPts val="800"/>
              </a:spcAft>
            </a:pPr>
            <a:r>
              <a:rPr sz="1100">
                <a:solidFill>
                  <a:srgbClr val="102A43"/>
                </a:solidFill>
                <a:latin typeface="Aptos"/>
              </a:rPr>
              <a:t>Open the Gmail login route and either enter the Brand Specific Field ID plus Email ID manually or arrive through a signed SSO link that provides those values automatically.</a:t>
            </a:r>
          </a:p>
          <a:p>
            <a:pPr algn="l">
              <a:spcBef>
                <a:spcPts val="0"/>
              </a:spcBef>
              <a:spcAft>
                <a:spcPts val="200"/>
              </a:spcAft>
            </a:pPr>
            <a:r>
              <a:rPr sz="1200" b="1">
                <a:solidFill>
                  <a:srgbClr val="14B8A6"/>
                </a:solidFill>
                <a:latin typeface="Aptos"/>
              </a:rPr>
              <a:t>What appears on screen</a:t>
            </a:r>
          </a:p>
          <a:p>
            <a:pPr algn="l">
              <a:lnSpc>
                <a:spcPct val="110000"/>
              </a:lnSpc>
              <a:spcBef>
                <a:spcPts val="0"/>
              </a:spcBef>
              <a:spcAft>
                <a:spcPts val="800"/>
              </a:spcAft>
            </a:pPr>
            <a:r>
              <a:rPr sz="1100">
                <a:solidFill>
                  <a:srgbClr val="102A43"/>
                </a:solidFill>
                <a:latin typeface="Aptos"/>
              </a:rPr>
              <a:t>A campaign-scoped login form labeled Brand Specific Field ID and Email ID, along with the campaign context and the floating support chatbot.</a:t>
            </a:r>
          </a:p>
          <a:p>
            <a:pPr algn="l">
              <a:spcBef>
                <a:spcPts val="0"/>
              </a:spcBef>
              <a:spcAft>
                <a:spcPts val="200"/>
              </a:spcAft>
            </a:pPr>
            <a:r>
              <a:rPr sz="1200" b="1">
                <a:solidFill>
                  <a:srgbClr val="14B8A6"/>
                </a:solidFill>
                <a:latin typeface="Aptos"/>
              </a:rPr>
              <a:t>Why it matters</a:t>
            </a:r>
          </a:p>
          <a:p>
            <a:pPr algn="l">
              <a:lnSpc>
                <a:spcPct val="110000"/>
              </a:lnSpc>
              <a:spcBef>
                <a:spcPts val="0"/>
              </a:spcBef>
              <a:spcAft>
                <a:spcPts val="800"/>
              </a:spcAft>
            </a:pPr>
            <a:r>
              <a:rPr sz="1100">
                <a:solidFill>
                  <a:srgbClr val="102A43"/>
                </a:solidFill>
                <a:latin typeface="Aptos"/>
              </a:rPr>
              <a:t>This is the primary live access route into the share experience and the path used by the seeded demo.</a:t>
            </a:r>
          </a:p>
          <a:p>
            <a:pPr algn="l">
              <a:spcBef>
                <a:spcPts val="0"/>
              </a:spcBef>
              <a:spcAft>
                <a:spcPts val="200"/>
              </a:spcAft>
            </a:pPr>
            <a:r>
              <a:rPr sz="1200" b="1">
                <a:solidFill>
                  <a:srgbClr val="14B8A6"/>
                </a:solidFill>
                <a:latin typeface="Aptos"/>
              </a:rPr>
              <a:t>Expected result</a:t>
            </a:r>
          </a:p>
          <a:p>
            <a:pPr algn="l">
              <a:lnSpc>
                <a:spcPct val="110000"/>
              </a:lnSpc>
              <a:spcBef>
                <a:spcPts val="0"/>
              </a:spcBef>
              <a:spcAft>
                <a:spcPts val="800"/>
              </a:spcAft>
            </a:pPr>
            <a:r>
              <a:rPr sz="1100">
                <a:solidFill>
                  <a:srgbClr val="102A43"/>
                </a:solidFill>
                <a:latin typeface="Aptos"/>
              </a:rPr>
              <a:t>The rep reaches the campaign share page with the correct assignment and session context.</a:t>
            </a:r>
          </a:p>
          <a:p>
            <a:pPr algn="l">
              <a:spcBef>
                <a:spcPts val="0"/>
              </a:spcBef>
              <a:spcAft>
                <a:spcPts val="200"/>
              </a:spcAft>
            </a:pPr>
            <a:r>
              <a:rPr sz="1200" b="1">
                <a:solidFill>
                  <a:srgbClr val="F97316"/>
                </a:solidFill>
                <a:latin typeface="Aptos"/>
              </a:rPr>
              <a:t>Trainer note</a:t>
            </a:r>
          </a:p>
          <a:p>
            <a:pPr algn="l">
              <a:lnSpc>
                <a:spcPct val="110000"/>
              </a:lnSpc>
              <a:spcBef>
                <a:spcPts val="0"/>
              </a:spcBef>
              <a:spcAft>
                <a:spcPts val="0"/>
              </a:spcAft>
            </a:pPr>
            <a:r>
              <a:rPr sz="1100">
                <a:solidFill>
                  <a:srgbClr val="52667A"/>
                </a:solidFill>
                <a:latin typeface="Aptos"/>
              </a:rPr>
              <a:t>Manual login uses the brand-specific Field ID. Automatic SSO trusts the master Field Rep ID from the URL or JWT claims, then completes the same login path only if the claim set matches the campaign and rep identifiers in the request.</a:t>
            </a:r>
          </a:p>
        </p:txBody>
      </p:sp>
      <p:sp>
        <p:nvSpPr>
          <p:cNvPr id="8" name="Rounded Rectangle 7"/>
          <p:cNvSpPr/>
          <p:nvPr/>
        </p:nvSpPr>
        <p:spPr>
          <a:xfrm>
            <a:off x="5303520" y="914400"/>
            <a:ext cx="6355080" cy="52120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0" y="1097280"/>
            <a:ext cx="5669280" cy="228600"/>
          </a:xfrm>
          <a:prstGeom prst="rect">
            <a:avLst/>
          </a:prstGeom>
          <a:noFill/>
        </p:spPr>
        <p:txBody>
          <a:bodyPr wrap="square" anchor="t">
            <a:spAutoFit/>
          </a:bodyPr>
          <a:lstStyle/>
          <a:p>
            <a:pPr algn="l"/>
            <a:r>
              <a:rPr sz="1300" b="1">
                <a:solidFill>
                  <a:srgbClr val="14B8A6"/>
                </a:solidFill>
                <a:latin typeface="Aptos"/>
              </a:rPr>
              <a:t>Current Gmail/manual login page used for campaign-scoped rep access.</a:t>
            </a:r>
          </a:p>
        </p:txBody>
      </p:sp>
      <p:pic>
        <p:nvPicPr>
          <p:cNvPr id="10" name="Picture 9" descr="fieldrep-gmail-login.png"/>
          <p:cNvPicPr>
            <a:picLocks noChangeAspect="1"/>
          </p:cNvPicPr>
          <p:nvPr/>
        </p:nvPicPr>
        <p:blipFill>
          <a:blip r:embed="rId2"/>
          <a:stretch>
            <a:fillRect/>
          </a:stretch>
        </p:blipFill>
        <p:spPr>
          <a:xfrm>
            <a:off x="5559552" y="1417320"/>
            <a:ext cx="5806440" cy="4160520"/>
          </a:xfrm>
          <a:prstGeom prst="rect">
            <a:avLst/>
          </a:prstGeom>
        </p:spPr>
      </p:pic>
      <p:sp>
        <p:nvSpPr>
          <p:cNvPr id="11" name="TextBox 10"/>
          <p:cNvSpPr txBox="1"/>
          <p:nvPr/>
        </p:nvSpPr>
        <p:spPr>
          <a:xfrm>
            <a:off x="5577840" y="5669280"/>
            <a:ext cx="5623560" cy="320040"/>
          </a:xfrm>
          <a:prstGeom prst="rect">
            <a:avLst/>
          </a:prstGeom>
          <a:noFill/>
        </p:spPr>
        <p:txBody>
          <a:bodyPr wrap="square" anchor="t">
            <a:spAutoFit/>
          </a:bodyPr>
          <a:lstStyle/>
          <a:p>
            <a:pPr algn="l"/>
            <a:r>
              <a:rPr sz="1100" b="0">
                <a:solidFill>
                  <a:srgbClr val="52667A"/>
                </a:solidFill>
                <a:latin typeface="Aptos"/>
              </a:rPr>
              <a:t>The Brand Specific Field ID and Email ID fields that lead directly into the share experience.</a:t>
            </a:r>
          </a:p>
        </p:txBody>
      </p:sp>
      <p:sp>
        <p:nvSpPr>
          <p:cNvPr id="12" name="TextBox 11"/>
          <p:cNvSpPr txBox="1"/>
          <p:nvPr/>
        </p:nvSpPr>
        <p:spPr>
          <a:xfrm>
            <a:off x="502920" y="6400800"/>
            <a:ext cx="10972800" cy="182880"/>
          </a:xfrm>
          <a:prstGeom prst="rect">
            <a:avLst/>
          </a:prstGeom>
          <a:noFill/>
        </p:spPr>
        <p:txBody>
          <a:bodyPr wrap="square" anchor="t">
            <a:spAutoFit/>
          </a:bodyPr>
          <a:lstStyle/>
          <a:p>
            <a:pPr algn="l"/>
            <a:r>
              <a:rPr sz="1000" b="0">
                <a:solidFill>
                  <a:srgbClr val="52667A"/>
                </a:solidFill>
                <a:latin typeface="Aptos"/>
              </a:rPr>
              <a:t>Screenshot asset: docs/product-user-flows/assets/field-rep-registration-and-login/fieldrep-gmail-login.png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59436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
            <a:ext cx="1234440" cy="109728"/>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326880" cy="292608"/>
          </a:xfrm>
          <a:prstGeom prst="rect">
            <a:avLst/>
          </a:prstGeom>
          <a:noFill/>
        </p:spPr>
        <p:txBody>
          <a:bodyPr wrap="square" anchor="t">
            <a:spAutoFit/>
          </a:bodyPr>
          <a:lstStyle/>
          <a:p>
            <a:pPr algn="l"/>
            <a:r>
              <a:rPr sz="2600" b="1">
                <a:solidFill>
                  <a:srgbClr val="FFFFFF"/>
                </a:solidFill>
                <a:latin typeface="Aptos"/>
              </a:rPr>
              <a:t>Trainer Tips</a:t>
            </a:r>
          </a:p>
        </p:txBody>
      </p:sp>
      <p:sp>
        <p:nvSpPr>
          <p:cNvPr id="5" name="TextBox 4"/>
          <p:cNvSpPr txBox="1"/>
          <p:nvPr/>
        </p:nvSpPr>
        <p:spPr>
          <a:xfrm>
            <a:off x="8503920" y="182880"/>
            <a:ext cx="3108960" cy="228600"/>
          </a:xfrm>
          <a:prstGeom prst="rect">
            <a:avLst/>
          </a:prstGeom>
          <a:noFill/>
        </p:spPr>
        <p:txBody>
          <a:bodyPr wrap="square" anchor="t">
            <a:spAutoFit/>
          </a:bodyPr>
          <a:lstStyle/>
          <a:p>
            <a:pPr algn="r"/>
            <a:r>
              <a:rPr sz="1100" b="0">
                <a:solidFill>
                  <a:srgbClr val="FFFFFF"/>
                </a:solidFill>
                <a:latin typeface="Aptos"/>
              </a:rPr>
              <a:t>Field Rep Registration and Login</a:t>
            </a:r>
          </a:p>
        </p:txBody>
      </p:sp>
      <p:sp>
        <p:nvSpPr>
          <p:cNvPr id="6" name="Rounded Rectangle 5"/>
          <p:cNvSpPr/>
          <p:nvPr/>
        </p:nvSpPr>
        <p:spPr>
          <a:xfrm>
            <a:off x="640080" y="1188720"/>
            <a:ext cx="1097280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2286000" cy="274320"/>
          </a:xfrm>
          <a:prstGeom prst="rect">
            <a:avLst/>
          </a:prstGeom>
          <a:noFill/>
        </p:spPr>
        <p:txBody>
          <a:bodyPr wrap="square" anchor="t">
            <a:spAutoFit/>
          </a:bodyPr>
          <a:lstStyle/>
          <a:p>
            <a:pPr algn="l"/>
            <a:r>
              <a:rPr sz="1400" b="1">
                <a:solidFill>
                  <a:srgbClr val="14B8A6"/>
                </a:solidFill>
                <a:latin typeface="Aptos"/>
              </a:rPr>
              <a:t>Facilitation notes</a:t>
            </a:r>
          </a:p>
        </p:txBody>
      </p:sp>
      <p:sp>
        <p:nvSpPr>
          <p:cNvPr id="8" name="TextBox 7"/>
          <p:cNvSpPr txBox="1"/>
          <p:nvPr/>
        </p:nvSpPr>
        <p:spPr>
          <a:xfrm>
            <a:off x="914400" y="1828800"/>
            <a:ext cx="10241280" cy="3017520"/>
          </a:xfrm>
          <a:prstGeom prst="rect">
            <a:avLst/>
          </a:prstGeom>
          <a:noFill/>
        </p:spPr>
        <p:txBody>
          <a:bodyPr wrap="square">
            <a:spAutoFit/>
          </a:bodyPr>
          <a:lstStyle/>
          <a:p>
            <a:pPr algn="l"/>
            <a:r>
              <a:rPr sz="2200">
                <a:solidFill>
                  <a:srgbClr val="102A43"/>
                </a:solidFill>
                <a:latin typeface="Aptos"/>
              </a:rPr>
              <a:t>Lead with the Gmail/manual screen because it reflects the current launch path most accurately.</a:t>
            </a:r>
          </a:p>
          <a:p>
            <a:pPr algn="l"/>
            <a:r>
              <a:rPr sz="2200">
                <a:solidFill>
                  <a:srgbClr val="102A43"/>
                </a:solidFill>
                <a:latin typeface="Aptos"/>
              </a:rPr>
              <a:t>Show the forgot-password screen only briefly unless the session is specifically about support or rep onboarding recovery.</a:t>
            </a:r>
          </a:p>
          <a:p>
            <a:pPr algn="l"/>
            <a:r>
              <a:rPr sz="2200">
                <a:solidFill>
                  <a:srgbClr val="102A43"/>
                </a:solidFill>
                <a:latin typeface="Aptos"/>
              </a:rPr>
              <a:t>Keep the rep deck practical: explain the legacy redirects once, then spend the rest of the time on the live login and share flow.</a:t>
            </a:r>
          </a:p>
        </p:txBody>
      </p:sp>
      <p:sp>
        <p:nvSpPr>
          <p:cNvPr id="9" name="TextBox 8"/>
          <p:cNvSpPr txBox="1"/>
          <p:nvPr/>
        </p:nvSpPr>
        <p:spPr>
          <a:xfrm>
            <a:off x="914400" y="5257800"/>
            <a:ext cx="10058400" cy="365760"/>
          </a:xfrm>
          <a:prstGeom prst="rect">
            <a:avLst/>
          </a:prstGeom>
          <a:noFill/>
        </p:spPr>
        <p:txBody>
          <a:bodyPr wrap="square" anchor="t">
            <a:spAutoFit/>
          </a:bodyPr>
          <a:lstStyle/>
          <a:p>
            <a:pPr algn="l"/>
            <a:r>
              <a:rPr sz="1100" b="0">
                <a:solidFill>
                  <a:srgbClr val="52667A"/>
                </a:solidFill>
                <a:latin typeface="Aptos"/>
              </a:rPr>
              <a:t>Related documents: docs/product-user-flows/07-field-rep-sharing-and-doctor-bulk-upload.md, backend/sharing_management/views.py, backend/sharing_management/templates/sharing_management/fieldrep_gmail_login.html</a:t>
            </a:r>
          </a:p>
        </p:txBody>
      </p:sp>
      <p:sp>
        <p:nvSpPr>
          <p:cNvPr id="10" name="TextBox 9"/>
          <p:cNvSpPr txBox="1"/>
          <p:nvPr/>
        </p:nvSpPr>
        <p:spPr>
          <a:xfrm>
            <a:off x="502920" y="6400800"/>
            <a:ext cx="10972800" cy="182880"/>
          </a:xfrm>
          <a:prstGeom prst="rect">
            <a:avLst/>
          </a:prstGeom>
          <a:noFill/>
        </p:spPr>
        <p:txBody>
          <a:bodyPr wrap="square" anchor="t">
            <a:spAutoFit/>
          </a:bodyPr>
          <a:lstStyle/>
          <a:p>
            <a:pPr algn="l"/>
            <a:r>
              <a:rPr sz="1000" b="0">
                <a:solidFill>
                  <a:srgbClr val="52667A"/>
                </a:solidFill>
                <a:latin typeface="Aptos"/>
              </a:rPr>
              <a:t>Validated against the current public rep-access screens on 2026-04-23; legacy registration routes now documented as redirects into Gmail/manual login.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731520" y="822960"/>
            <a:ext cx="5303520" cy="502920"/>
          </a:xfrm>
          <a:prstGeom prst="rect">
            <a:avLst/>
          </a:prstGeom>
          <a:noFill/>
        </p:spPr>
        <p:txBody>
          <a:bodyPr wrap="square" anchor="t">
            <a:spAutoFit/>
          </a:bodyPr>
          <a:lstStyle/>
          <a:p>
            <a:pPr algn="l"/>
            <a:r>
              <a:rPr sz="2800" b="1">
                <a:solidFill>
                  <a:srgbClr val="FFFFFF"/>
                </a:solidFill>
                <a:latin typeface="Aptos"/>
              </a:rPr>
              <a:t>What success looks like</a:t>
            </a:r>
          </a:p>
        </p:txBody>
      </p:sp>
      <p:sp>
        <p:nvSpPr>
          <p:cNvPr id="3" name="TextBox 2"/>
          <p:cNvSpPr txBox="1"/>
          <p:nvPr/>
        </p:nvSpPr>
        <p:spPr>
          <a:xfrm>
            <a:off x="777240" y="1554480"/>
            <a:ext cx="5212080" cy="3200400"/>
          </a:xfrm>
          <a:prstGeom prst="rect">
            <a:avLst/>
          </a:prstGeom>
          <a:noFill/>
        </p:spPr>
        <p:txBody>
          <a:bodyPr wrap="square">
            <a:spAutoFit/>
          </a:bodyPr>
          <a:lstStyle/>
          <a:p>
            <a:pPr algn="l"/>
            <a:r>
              <a:rPr sz="2000">
                <a:solidFill>
                  <a:srgbClr val="FFFFFF"/>
                </a:solidFill>
                <a:latin typeface="Aptos"/>
              </a:rPr>
              <a:t>Trainees understand that registration and create-password routes are now compatibility redirects, not live onboarding forms.</a:t>
            </a:r>
          </a:p>
          <a:p>
            <a:pPr algn="l"/>
            <a:r>
              <a:rPr sz="2000">
                <a:solidFill>
                  <a:srgbClr val="FFFFFF"/>
                </a:solidFill>
                <a:latin typeface="Aptos"/>
              </a:rPr>
              <a:t>The difference between email/password, password recovery, Gmail/manual login, and signed SSO is explained clearly.</a:t>
            </a:r>
          </a:p>
          <a:p>
            <a:pPr algn="l"/>
            <a:r>
              <a:rPr sz="2000">
                <a:solidFill>
                  <a:srgbClr val="FFFFFF"/>
                </a:solidFill>
                <a:latin typeface="Aptos"/>
              </a:rPr>
              <a:t>Campaign context in the URL is explained clearly.</a:t>
            </a:r>
          </a:p>
          <a:p>
            <a:pPr algn="l"/>
            <a:r>
              <a:rPr sz="2000">
                <a:solidFill>
                  <a:srgbClr val="FFFFFF"/>
                </a:solidFill>
                <a:latin typeface="Aptos"/>
              </a:rPr>
              <a:t>The group is ready to continue into the share workflow with the correct login path.</a:t>
            </a:r>
          </a:p>
        </p:txBody>
      </p:sp>
      <p:sp>
        <p:nvSpPr>
          <p:cNvPr id="4" name="Rounded Rectangle 3"/>
          <p:cNvSpPr/>
          <p:nvPr/>
        </p:nvSpPr>
        <p:spPr>
          <a:xfrm>
            <a:off x="6492240" y="1143000"/>
            <a:ext cx="4937760" cy="3611880"/>
          </a:xfrm>
          <a:prstGeom prst="round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12280" y="1463040"/>
            <a:ext cx="4206240" cy="274320"/>
          </a:xfrm>
          <a:prstGeom prst="rect">
            <a:avLst/>
          </a:prstGeom>
          <a:noFill/>
        </p:spPr>
        <p:txBody>
          <a:bodyPr wrap="square" anchor="t">
            <a:spAutoFit/>
          </a:bodyPr>
          <a:lstStyle/>
          <a:p>
            <a:pPr algn="l"/>
            <a:r>
              <a:rPr sz="1600" b="1">
                <a:solidFill>
                  <a:srgbClr val="FFFFFF"/>
                </a:solidFill>
                <a:latin typeface="Aptos"/>
              </a:rPr>
              <a:t>Use next</a:t>
            </a:r>
          </a:p>
        </p:txBody>
      </p:sp>
      <p:sp>
        <p:nvSpPr>
          <p:cNvPr id="6" name="TextBox 5"/>
          <p:cNvSpPr txBox="1"/>
          <p:nvPr/>
        </p:nvSpPr>
        <p:spPr>
          <a:xfrm>
            <a:off x="6812280" y="1828800"/>
            <a:ext cx="4069080" cy="2194560"/>
          </a:xfrm>
          <a:prstGeom prst="rect">
            <a:avLst/>
          </a:prstGeom>
          <a:noFill/>
        </p:spPr>
        <p:txBody>
          <a:bodyPr wrap="square">
            <a:spAutoFit/>
          </a:bodyPr>
          <a:lstStyle/>
          <a:p>
            <a:pPr algn="l"/>
            <a:r>
              <a:rPr sz="1800">
                <a:solidFill>
                  <a:srgbClr val="FFFFFF"/>
                </a:solidFill>
                <a:latin typeface="Aptos"/>
              </a:rPr>
              <a:t>Review docs/product-user-flows/07-field-rep-sharing-and-doctor-bulk-upload.md</a:t>
            </a:r>
          </a:p>
          <a:p>
            <a:pPr algn="l"/>
            <a:r>
              <a:rPr sz="1800">
                <a:solidFill>
                  <a:srgbClr val="FFFFFF"/>
                </a:solidFill>
                <a:latin typeface="Aptos"/>
              </a:rPr>
              <a:t>Review backend/sharing_management/views.py</a:t>
            </a:r>
          </a:p>
          <a:p>
            <a:pPr algn="l"/>
            <a:r>
              <a:rPr sz="1800">
                <a:solidFill>
                  <a:srgbClr val="FFFFFF"/>
                </a:solidFill>
                <a:latin typeface="Aptos"/>
              </a:rPr>
              <a:t>Review backend/sharing_management/templates/sharing_management/fieldrep_gmail_login.html</a:t>
            </a:r>
          </a:p>
        </p:txBody>
      </p:sp>
      <p:sp>
        <p:nvSpPr>
          <p:cNvPr id="7" name="TextBox 6"/>
          <p:cNvSpPr txBox="1"/>
          <p:nvPr/>
        </p:nvSpPr>
        <p:spPr>
          <a:xfrm>
            <a:off x="777240" y="5669280"/>
            <a:ext cx="10698480" cy="320040"/>
          </a:xfrm>
          <a:prstGeom prst="rect">
            <a:avLst/>
          </a:prstGeom>
          <a:noFill/>
        </p:spPr>
        <p:txBody>
          <a:bodyPr wrap="square" anchor="t">
            <a:spAutoFit/>
          </a:bodyPr>
          <a:lstStyle/>
          <a:p>
            <a:pPr algn="l"/>
            <a:r>
              <a:rPr sz="1200" b="0">
                <a:solidFill>
                  <a:srgbClr val="FFFFFF"/>
                </a:solidFill>
                <a:latin typeface="Aptos"/>
              </a:rPr>
              <a:t>Validated against the current public rep-access screens on 2026-04-23; legacy registration routes now documented as redirects into Gmail/manual login.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