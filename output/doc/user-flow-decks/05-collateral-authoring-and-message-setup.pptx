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31520"/>
            <a:ext cx="164592" cy="51206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6720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Collateral Authoring and Message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6537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Show how campaign assets, collateral schedules, and WhatsApp messages are configured before field reps start sharing.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206240"/>
            <a:ext cx="2377440" cy="45720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1596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Publisher and Campaign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6355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Primary user: Campaign operators and training leads preparing the collateral side of a launch.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4243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Generated: 2026-04-11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9601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Training Pack</a:t>
            </a:r>
          </a:p>
          <a:p>
            <a:pPr algn="ctr"/>
            <a:r>
              <a:rPr sz="1300">
                <a:solidFill>
                  <a:srgbClr val="52667A"/>
                </a:solidFill>
                <a:latin typeface="Aptos"/>
              </a:rPr>
              <a:t>Campaign-scoped collateral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panel: `/share/dashboard/?ca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mpaign=&lt;brand_campaign_id&gt;`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plus `/collaterals/add/&lt;bran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d_campaign_id&gt;/` and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`/collaterals/collateral-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messages/`.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Workflow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Collateral Authoring and Message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Campaign operators and training leads preparing the collateral side of a launch.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Entry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Campaign-scoped collateral panel: `/share/dashboard/?campaign=&lt;brand_campaign_id&gt;` plus `/collaterals/add/&lt;brand_campaign_id&gt;/` and `/collaterals/collateral-messages/`.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Show how campaign assets, collateral schedules, and WhatsApp messages are configured before field reps start sharing.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11155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What to 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90672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collateral dashboard is the campaign-scoped control panel for asset inventory, calendar edits, and rep-facing shortcuts.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Add Collateral combines campaign selection, asset upload, banner configuration, webinar metadata, and a default WhatsApp message path.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Collateral Messages Management stores custom message text per campaign-collateral pair.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Calendar windows determine when a collateral is considered available in the share screens.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Source manual: docs/product-user-flows/05-collateral-authoring-and-message-setup.md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1: Open the campaign collateral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Collateral Authoring and Message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353312"/>
            <a:ext cx="3931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tos"/>
              </a:rPr>
              <a:t>Navigate to the campaign's collateral panel from the campaign inventory or directly through the filtered route.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67712"/>
            <a:ext cx="3931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tos"/>
              </a:rPr>
              <a:t>A campaign-scoped dashboard with buttons for Add Collaterals, Edit Calendar, Doctor Bulk Upload, and the field-rep entry links.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06324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319272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tos"/>
              </a:rPr>
              <a:t>This dashboard is the operator's launch pad for collateral and rep-facing setup.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690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25112"/>
            <a:ext cx="3931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tos"/>
              </a:rPr>
              <a:t>The operator sees the current collateral inventory and the next setup actions in one place.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65192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67A"/>
                </a:solidFill>
                <a:latin typeface="Aptos"/>
              </a:rPr>
              <a:t>This route is campaign-aware and surfaces the same brand campaign ID used elsewhere in the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Campaign collateral dashboard with collateral inventory and setup shortcuts.</a:t>
            </a:r>
          </a:p>
        </p:txBody>
      </p:sp>
      <p:pic>
        <p:nvPicPr>
          <p:cNvPr id="19" name="Picture 18" descr="collater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operator-facing control panel for campaign assets.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docs/product-user-flows/assets/collateral-authoring-and-message-setup/collateral-dashboard.png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2: Create or update a collateral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Collateral Authoring and Message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353312"/>
            <a:ext cx="3931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tos"/>
              </a:rPr>
              <a:t>Open the Add Collateral form, upload the PDF and banners, choose the type, and add descriptive or webinar metadata.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67712"/>
            <a:ext cx="3931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tos"/>
              </a:rPr>
              <a:t>A large multipart form for purpose, content title, content ID, collateral type, PDF or Vimeo input, banners, doctor display name, and webinar details.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06324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319272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tos"/>
              </a:rPr>
              <a:t>This screen defines what the doctor ultimately sees after verification.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690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25112"/>
            <a:ext cx="3931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tos"/>
              </a:rPr>
              <a:t>The campaign has a polished collateral record that can be linked and shared.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65192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67A"/>
                </a:solidFill>
                <a:latin typeface="Aptos"/>
              </a:rPr>
              <a:t>The form automatically creates a message row when a collateral is saved, which is why the message-management screen is part of the same training segment.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Collateral input form used to create campaign-ready doctor content.</a:t>
            </a:r>
          </a:p>
        </p:txBody>
      </p:sp>
      <p:pic>
        <p:nvPicPr>
          <p:cNvPr id="19" name="Picture 18" descr="add-collateral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PDF upload, metadata, and banner sections of the form.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docs/product-user-flows/assets/collateral-authoring-and-message-setup/add-collateral-form.png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3: Review or customize the WhatsApp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Collateral Authoring and Message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353312"/>
            <a:ext cx="3931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tos"/>
              </a:rPr>
              <a:t>Open the Collateral Messages Management page and inspect the message linked to the collateral and campaign pair.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67712"/>
            <a:ext cx="3931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tos"/>
              </a:rPr>
              <a:t>A searchable message list with campaign ID, collateral, message preview, status, and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06324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319272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tos"/>
              </a:rPr>
              <a:t>The share experience depends on good rep-facing message text that includes the `$collateralLinks` placeholder.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690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25112"/>
            <a:ext cx="3931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tos"/>
              </a:rPr>
              <a:t>The active message is appropriate for the campaign and collateral being launched.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65192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67A"/>
                </a:solidFill>
                <a:latin typeface="Aptos"/>
              </a:rPr>
              <a:t>Use this step to remind trainees that the message text is not global; it is scoped to a specific campaign and collateral.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Message-management page showing the campaign-to-collateral WhatsApp text setup.</a:t>
            </a:r>
          </a:p>
        </p:txBody>
      </p:sp>
      <p:pic>
        <p:nvPicPr>
          <p:cNvPr id="19" name="Picture 18" descr="collateral-mess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message preview list and campaign/collateral filtering controls.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docs/product-user-flows/assets/collateral-authoring-and-message-setup/collateral-messages.png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4: Adjust the collateral calendar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Collateral Authoring and Message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353312"/>
            <a:ext cx="3931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tos"/>
              </a:rPr>
              <a:t>Open the Edit Calendar screen and confirm the start and end dates for the campaign-collateral mapping.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67712"/>
            <a:ext cx="3931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tos"/>
              </a:rPr>
              <a:t>A calendar-edit screen that controls whether a collateral is active in the share flow on the current date.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06324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319272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tos"/>
              </a:rPr>
              <a:t>Availability windows are one of the key reasons a collateral might not appear for a field rep even when the asset exists.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690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25112"/>
            <a:ext cx="3931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tos"/>
              </a:rPr>
              <a:t>Only the intended collateral is active during the campaign window.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65192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67A"/>
                </a:solidFill>
                <a:latin typeface="Aptos"/>
              </a:rPr>
              <a:t>This is one of the first places to inspect if a field rep says a collateral is missing from the share page.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Calendar management screen used to control collateral availability windows.</a:t>
            </a:r>
          </a:p>
        </p:txBody>
      </p:sp>
      <p:pic>
        <p:nvPicPr>
          <p:cNvPr id="19" name="Picture 18" descr="edit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date controls that determine whether a collateral appears in the share 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docs/product-user-flows/assets/collateral-authoring-and-message-setup/edit-calendar.png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Trainer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Collateral Authoring and Message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Aptos"/>
              </a:rPr>
              <a:t>Facilitation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Demonstrate the message placeholder explicitly so trainees understand how the short link gets injected.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If a share screen looks empty, revisit the calendar window before assuming the asset is missing.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Related documents: docs/product-user-flows/07-field-rep-sharing-and-doctor-bulk-upload.md, backend/collateral_management/views.py, backend/collateral_management/views_collateral_message.py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Validated against the seeded collateral dashboard and forms on 2026-04-11.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Operators can create or review a collateral tied to the campaign.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Message text and collateral availability windows are understood as part of the launch workflow.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field-rep-facing collateral inventory is ready before rep training starts.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143000"/>
            <a:ext cx="4937760" cy="361188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4630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Use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828800"/>
            <a:ext cx="4069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docs/product-user-flows/07-field-rep-sharing-and-doctor-bulk-upload.md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backend/collateral_management/views.py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backend/collateral_management/views_collateral_message.py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Validated against the seeded collateral dashboard and forms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