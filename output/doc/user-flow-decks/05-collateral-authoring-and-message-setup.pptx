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731520"/>
            <a:ext cx="164592" cy="51206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68680"/>
            <a:ext cx="672084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6537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Show how campaign assets, dashboard shortcuts, collateral schedules, and WhatsApp messages are configured before field reps start sharing.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377440" cy="45720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315968"/>
            <a:ext cx="201168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Publisher and Campaign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635508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Aptos"/>
              </a:rPr>
              <a:t>Primary user: Campaign operators and training leads preparing the collateral side of a launch.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742432"/>
            <a:ext cx="3200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Generated: 2026-04-23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960120"/>
            <a:ext cx="35204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0B1F33"/>
                </a:solidFill>
                <a:latin typeface="Aptos"/>
              </a:rPr>
              <a:t>Training Pack</a:t>
            </a:r>
          </a:p>
          <a:p>
            <a:pPr algn="ctr"/>
            <a:r>
              <a:rPr sz="1300">
                <a:solidFill>
                  <a:srgbClr val="52667A"/>
                </a:solidFill>
                <a:latin typeface="Aptos"/>
              </a:rPr>
              <a:t>Campaign-scoped collateral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panel: `/share/dashboard/?ca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mpaign=&lt;brand_campaign_id&gt;`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plus `/collaterals/add/&lt;bran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d_campaign_id&gt;/` and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`/collaterals/collateral-</a:t>
            </a:r>
            <a:br/>
            <a:r>
              <a:rPr sz="1300">
                <a:solidFill>
                  <a:srgbClr val="52667A"/>
                </a:solidFill>
                <a:latin typeface="Aptos"/>
              </a:rPr>
              <a:t>messages/`.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Workflow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Primary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 operators and training leads preparing the collateral side of a launch.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Entry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Campaign-scoped collateral panel: `/share/dashboard/?campaign=&lt;brand_campaign_id&gt;` plus `/collaterals/add/&lt;brand_campaign_id&gt;/` and `/collaterals/collateral-messages/`.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960120"/>
            <a:ext cx="32918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01000" y="1097280"/>
            <a:ext cx="29260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Aptos"/>
              </a:rPr>
              <a:t>Purpose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1371600"/>
            <a:ext cx="2880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02A43"/>
                </a:solidFill>
                <a:latin typeface="Aptos"/>
              </a:rPr>
              <a:t>Show how campaign assets, dashboard shortcuts, collateral schedules, and WhatsApp messages are configured before field reps start sharing.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06040"/>
            <a:ext cx="11155680" cy="3246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88920"/>
            <a:ext cx="20116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What to 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090672"/>
            <a:ext cx="106070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The collateral dashboard is the campaign-scoped control panel for asset inventory, calendar edits, doctor-upload shortcuts, and rep-facing entry points.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Add Collateral combines campaign selection, asset upload, banner configuration, webinar metadata, and a default WhatsApp message path.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Collateral Messages Management stores custom message text per campaign-collateral pair.</a:t>
            </a:r>
          </a:p>
          <a:p>
            <a:pPr algn="l"/>
            <a:r>
              <a:rPr sz="1800">
                <a:solidFill>
                  <a:srgbClr val="102A43"/>
                </a:solidFill>
                <a:latin typeface="Aptos"/>
              </a:rPr>
              <a:t>Calendar windows determine when a collateral is considered available in the share screens.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Source manual: docs/product-user-flows/05-collateral-authoring-and-message-setup.md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1: Open the campaign collateral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Navigate to the campaign's collateral panel from the campaign inventory or directly through the filtered route.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A campaign-scoped dashboard with top buttons for `Add Collaterals`, `Edit Calendar`, `Doctor Bulk Upload`, `Field Rep Login`, and `Back to Home`, plus a collateral table with `Link`, `Edit Dates`, `Replace Collateral`, and `Delete` actions.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This dashboard is the operator's launch pad for collateral and rep-facing setup.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>
                <a:solidFill>
                  <a:srgbClr val="102A43"/>
                </a:solidFill>
                <a:latin typeface="Aptos"/>
              </a:rPr>
              <a:t>The operator sees the current collateral inventory and the next setup actions in one place.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This route is campaign-aware and surfaces the same brand campaign ID used elsewhere in the product. The dashboard search box also lets trainers jump directly between campaigns by brand campaign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Campaign collateral dashboard with collateral inventory and setup shortcuts.</a:t>
            </a:r>
          </a:p>
        </p:txBody>
      </p:sp>
      <p:pic>
        <p:nvPicPr>
          <p:cNvPr id="10" name="Picture 9" descr="collateral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operator-facing control panel for campaign assets.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docs/product-user-flows/assets/collateral-authoring-and-message-setup/collateral-dashboard.png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2: Create or update a collateral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Open the Add Collateral form, choose the campaign and purpose, upload the PDF and banners, choose the type, and add descriptive or webinar metadata before submitting.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A large multipart form for campaign, purpose, content title, content ID, collateral type, PDF or Vimeo input, banners, doctor display name, description, webinar details, and an inline WhatsApp message text area.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This screen defines what the doctor ultimately sees after verification.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100">
                <a:solidFill>
                  <a:srgbClr val="102A43"/>
                </a:solidFill>
                <a:latin typeface="Aptos"/>
              </a:rPr>
              <a:t>The campaign has a polished collateral record that can be linked and shared.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52667A"/>
                </a:solidFill>
                <a:latin typeface="Aptos"/>
              </a:rPr>
              <a:t>The type selector changes which asset inputs are visible: PDF, Vimeo, or both. The submit button saves both the collateral record and the optional WhatsApp message text for that campaign-collateral pair.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Collateral input form used to create campaign-ready doctor content.</a:t>
            </a:r>
          </a:p>
        </p:txBody>
      </p:sp>
      <p:pic>
        <p:nvPicPr>
          <p:cNvPr id="10" name="Picture 9" descr="add-collateral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PDF upload, metadata, and banner sections of the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docs/product-user-flows/assets/collateral-authoring-and-message-setup/add-collateral-form.png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3: Review or customize the WhatsApp message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Open the Collateral Messages Management page and inspect the message linked to the collateral and campaign pair.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searchable message list with campaign and collateral filters, message preview, status, created date, and edit/delete actions.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share experience depends on good rep-facing message text that includes the `$collateralLinks` placeholder.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The active message is appropriate for the campaign and collateral being launched.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Use this step to remind trainees that the message text is not global; it is scoped to a specific campaign and collateral.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Message-management page showing the campaign-to-collateral WhatsApp text setup.</a:t>
            </a:r>
          </a:p>
        </p:txBody>
      </p:sp>
      <p:pic>
        <p:nvPicPr>
          <p:cNvPr id="10" name="Picture 9" descr="collateral-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message preview list and campaign/collateral filtering controls.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docs/product-user-flows/assets/collateral-authoring-and-message-setup/collateral-messages.png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Aptos"/>
              </a:rPr>
              <a:t>Step 4: Adjust the collateral calendar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914400"/>
            <a:ext cx="457200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097280"/>
            <a:ext cx="393192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User action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Open the Edit Calendar screen from the top dashboard button or the row-level `Edit Dates` action and confirm the start and end dates for the campaign-collateral mapping.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What appears on screen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 calendar-edit screen that shows the campaign ID, collateral title, and editable start and end date controls.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Why it matters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Availability windows are one of the key reasons a collateral might not appear for a field rep even when the asset exists.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4B8A6"/>
                </a:solidFill>
                <a:latin typeface="Aptos"/>
              </a:rPr>
              <a:t>Expected result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>
                <a:solidFill>
                  <a:srgbClr val="102A43"/>
                </a:solidFill>
                <a:latin typeface="Aptos"/>
              </a:rPr>
              <a:t>Only the intended collateral is active during the campaign window.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97316"/>
                </a:solidFill>
                <a:latin typeface="Aptos"/>
              </a:rPr>
              <a:t>Trainer note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52667A"/>
                </a:solidFill>
                <a:latin typeface="Aptos"/>
              </a:rPr>
              <a:t>This is one of the first places to inspect if a field rep says a collateral is missing from the share page.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914400"/>
            <a:ext cx="6355080" cy="52120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0" y="1097280"/>
            <a:ext cx="56692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B8A6"/>
                </a:solidFill>
                <a:latin typeface="Aptos"/>
              </a:rPr>
              <a:t>Calendar management screen used to control collateral availability windows.</a:t>
            </a:r>
          </a:p>
        </p:txBody>
      </p:sp>
      <p:pic>
        <p:nvPicPr>
          <p:cNvPr id="10" name="Picture 9" descr="edit-calen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9552" y="1417320"/>
            <a:ext cx="580644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5669280"/>
            <a:ext cx="5623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The date controls that determine whether a collateral appears in the share flow.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Screenshot asset: docs/product-user-flows/assets/collateral-authoring-and-message-setup/edit-calendar.png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1F33"/>
          </a:solidFill>
          <a:ln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"/>
            <a:ext cx="1234440" cy="10972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Trainer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182880"/>
            <a:ext cx="3108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Aptos"/>
              </a:rPr>
              <a:t>Collateral Authoring and Message Setup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188720"/>
            <a:ext cx="1097280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4B8A6"/>
                </a:solidFill>
                <a:latin typeface="Aptos"/>
              </a:rPr>
              <a:t>Facilitation notes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10241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Demonstrate the message placeholder explicitly so trainees understand how the short link gets injected.</a:t>
            </a:r>
          </a:p>
          <a:p>
            <a:pPr algn="l"/>
            <a:r>
              <a:rPr sz="2200">
                <a:solidFill>
                  <a:srgbClr val="102A43"/>
                </a:solidFill>
                <a:latin typeface="Aptos"/>
              </a:rPr>
              <a:t>If a share screen looks empty, revisit the calendar window before assuming the asset is missing.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578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2667A"/>
                </a:solidFill>
                <a:latin typeface="Aptos"/>
              </a:rPr>
              <a:t>Related documents: docs/product-user-flows/07-field-rep-sharing-and-doctor-bulk-upload.md, backend/collateral_management/views.py, backend/collateral_management/views_collateral_message.py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00800"/>
            <a:ext cx="109728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2667A"/>
                </a:solidFill>
                <a:latin typeface="Aptos"/>
              </a:rPr>
              <a:t>Validated against the seeded collateral dashboard and forms on 2026-04-23.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5303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What success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52120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Operators can create or review a collateral tied to the campaign.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Message text and collateral availability windows are understood as part of the launch workflow.</a:t>
            </a:r>
          </a:p>
          <a:p>
            <a:pPr algn="l"/>
            <a:r>
              <a:rPr sz="2000">
                <a:solidFill>
                  <a:srgbClr val="FFFFFF"/>
                </a:solidFill>
                <a:latin typeface="Aptos"/>
              </a:rPr>
              <a:t>The field-rep-facing collateral inventory is ready before rep training starts.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92240" y="1143000"/>
            <a:ext cx="4937760" cy="3611880"/>
          </a:xfrm>
          <a:prstGeom prst="round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12280" y="146304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Use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82880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docs/product-user-flows/07-field-rep-sharing-and-doctor-bulk-upload.md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backend/collateral_management/views.py</a:t>
            </a:r>
          </a:p>
          <a:p>
            <a:pPr algn="l"/>
            <a:r>
              <a:rPr sz="1800">
                <a:solidFill>
                  <a:srgbClr val="FFFFFF"/>
                </a:solidFill>
                <a:latin typeface="Aptos"/>
              </a:rPr>
              <a:t>Review backend/collateral_management/views_collateral_message.py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692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Aptos"/>
              </a:rPr>
              <a:t>Validated against the seeded collateral dashboard and forms on 2026-04-23.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