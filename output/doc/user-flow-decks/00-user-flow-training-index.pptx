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01-platform-overview-and-role-map.pptx" TargetMode="External"/><Relationship Id="rId3" Type="http://schemas.openxmlformats.org/officeDocument/2006/relationships/hyperlink" Target="02-publisher-campaign-onboarding-and-update.pptx" TargetMode="External"/><Relationship Id="rId4" Type="http://schemas.openxmlformats.org/officeDocument/2006/relationships/hyperlink" Target="03-internal-campaign-operations-from-the-manage-data-panel.pptx" TargetMode="External"/><Relationship Id="rId5" Type="http://schemas.openxmlformats.org/officeDocument/2006/relationships/hyperlink" Target="05-collateral-authoring-and-message-setup.pptx" TargetMode="External"/><Relationship Id="rId6" Type="http://schemas.openxmlformats.org/officeDocument/2006/relationships/hyperlink" Target="04-admin-field-rep-and-doctor-management.pptx" TargetMode="External"/><Relationship Id="rId7" Type="http://schemas.openxmlformats.org/officeDocument/2006/relationships/hyperlink" Target="06-field-rep-registration-and-login.pptx" TargetMode="External"/><Relationship Id="rId8" Type="http://schemas.openxmlformats.org/officeDocument/2006/relationships/hyperlink" Target="07-field-rep-sharing-and-doctor-bulk-upload.pptx" TargetMode="External"/><Relationship Id="rId9" Type="http://schemas.openxmlformats.org/officeDocument/2006/relationships/hyperlink" Target="08-doctor-verification-and-collateral-consumption.pptx" TargetMode="External"/><Relationship Id="rId10" Type="http://schemas.openxmlformats.org/officeDocument/2006/relationships/hyperlink" Target="09-engagement-reporting-and-transaction-review.pptx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60120"/>
            <a:ext cx="6949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User Flow Training Index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6217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Open this deck first. Each linked item opens the matching workflow deck in the same shared folder.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971800"/>
            <a:ext cx="3017520" cy="658368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3163824"/>
            <a:ext cx="2697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9 workflow decks +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34440" cy="10972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326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Linked Deck Catalogue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tos"/>
              </a:rPr>
              <a:t>Open the sibling PPTX files from this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5166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Aptos"/>
              </a:rPr>
              <a:t>Platform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207008"/>
            <a:ext cx="4983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4ED8"/>
                </a:solidFill>
                <a:latin typeface="Aptos"/>
                <a:hlinkClick r:id="rId2"/>
              </a:rPr>
              <a:t>01. Platform Overview and Role Map</a:t>
            </a:r>
          </a:p>
          <a:p>
            <a:pPr algn="l"/>
            <a:r>
              <a:rPr sz="1100">
                <a:solidFill>
                  <a:srgbClr val="52667A"/>
                </a:solidFill>
                <a:latin typeface="Aptos"/>
              </a:rPr>
              <a:t>New team members, trainers, implementation partners, and AI agents orienting to the product.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47088"/>
            <a:ext cx="5166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Aptos"/>
              </a:rPr>
              <a:t>Publisher and Campaign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9696"/>
            <a:ext cx="4983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4ED8"/>
                </a:solidFill>
                <a:latin typeface="Aptos"/>
                <a:hlinkClick r:id="rId3"/>
              </a:rPr>
              <a:t>02. Publisher Campaign Onboarding and Update</a:t>
            </a:r>
          </a:p>
          <a:p>
            <a:pPr algn="l"/>
            <a:r>
              <a:rPr sz="1100">
                <a:solidFill>
                  <a:srgbClr val="52667A"/>
                </a:solidFill>
                <a:latin typeface="Aptos"/>
              </a:rPr>
              <a:t>Publisher users, partner-system operators, and trainers supporting SSO onboarding.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06624"/>
            <a:ext cx="4983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  <a:hlinkClick r:id="rId4"/>
              </a:rPr>
              <a:t>03. Internal Campaign Operations from the Manage Data Panel</a:t>
            </a:r>
          </a:p>
          <a:p>
            <a:pPr algn="l"/>
            <a:r>
              <a:rPr sz="1100">
                <a:solidFill>
                  <a:srgbClr val="52667A"/>
                </a:solidFill>
                <a:latin typeface="Aptos"/>
              </a:rPr>
              <a:t>Internal campaign operators and trainers onboarding operational staff.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73552"/>
            <a:ext cx="4983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4ED8"/>
                </a:solidFill>
                <a:latin typeface="Aptos"/>
                <a:hlinkClick r:id="rId5"/>
              </a:rPr>
              <a:t>05. Collateral Authoring and Message Setup</a:t>
            </a:r>
          </a:p>
          <a:p>
            <a:pPr algn="l"/>
            <a:r>
              <a:rPr sz="1100">
                <a:solidFill>
                  <a:srgbClr val="52667A"/>
                </a:solidFill>
                <a:latin typeface="Aptos"/>
              </a:rPr>
              <a:t>Campaign operators and training leads preparing the collateral side of a launch.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913632"/>
            <a:ext cx="5166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Aptos"/>
              </a:rPr>
              <a:t>Admin Operations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206240"/>
            <a:ext cx="4983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4ED8"/>
                </a:solidFill>
                <a:latin typeface="Aptos"/>
                <a:hlinkClick r:id="rId6"/>
              </a:rPr>
              <a:t>04. Admin Field Rep and Doctor Management</a:t>
            </a:r>
          </a:p>
          <a:p>
            <a:pPr algn="l"/>
            <a:r>
              <a:rPr sz="1100">
                <a:solidFill>
                  <a:srgbClr val="52667A"/>
                </a:solidFill>
                <a:latin typeface="Aptos"/>
              </a:rPr>
              <a:t>Staff admins and training leads who support rep onboarding and doctor list maintenance.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914400"/>
            <a:ext cx="5257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Aptos"/>
              </a:rPr>
              <a:t>Field Rep Journeys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207008"/>
            <a:ext cx="5074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4ED8"/>
                </a:solidFill>
                <a:latin typeface="Aptos"/>
                <a:hlinkClick r:id="rId7"/>
              </a:rPr>
              <a:t>06. Field Rep Registration and Login</a:t>
            </a:r>
          </a:p>
          <a:p>
            <a:pPr algn="l"/>
            <a:r>
              <a:rPr sz="1100">
                <a:solidFill>
                  <a:srgbClr val="52667A"/>
                </a:solidFill>
                <a:latin typeface="Aptos"/>
              </a:rPr>
              <a:t>Field reps and trainers preparing reps for their first campaign login.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773936"/>
            <a:ext cx="5074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4ED8"/>
                </a:solidFill>
                <a:latin typeface="Aptos"/>
                <a:hlinkClick r:id="rId8"/>
              </a:rPr>
              <a:t>07. Field Rep Sharing and Doctor Bulk Upload</a:t>
            </a:r>
          </a:p>
          <a:p>
            <a:pPr algn="l"/>
            <a:r>
              <a:rPr sz="1100">
                <a:solidFill>
                  <a:srgbClr val="52667A"/>
                </a:solidFill>
                <a:latin typeface="Aptos"/>
              </a:rPr>
              <a:t>Field reps and trainers running campaign distribution sessions.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2414016"/>
            <a:ext cx="5257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Aptos"/>
              </a:rPr>
              <a:t>Doctor and Reporting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706624"/>
            <a:ext cx="5074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  <a:hlinkClick r:id="rId9"/>
              </a:rPr>
              <a:t>08. Doctor Verification and Collateral Consumption</a:t>
            </a:r>
          </a:p>
          <a:p>
            <a:pPr algn="l"/>
            <a:r>
              <a:rPr sz="1100">
                <a:solidFill>
                  <a:srgbClr val="52667A"/>
                </a:solidFill>
                <a:latin typeface="Aptos"/>
              </a:rPr>
              <a:t>Doctors, trainers demonstrating the doctor experience, and support teams validating the public flow.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273552"/>
            <a:ext cx="5074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  <a:hlinkClick r:id="rId10"/>
              </a:rPr>
              <a:t>09. Engagement Reporting and Transaction Review</a:t>
            </a:r>
          </a:p>
          <a:p>
            <a:pPr algn="l"/>
            <a:r>
              <a:rPr sz="1100">
                <a:solidFill>
                  <a:srgbClr val="52667A"/>
                </a:solidFill>
                <a:latin typeface="Aptos"/>
              </a:rPr>
              <a:t>Campaign analysts, operations leads, and trainers closing the loop after a doctor demo.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67A"/>
                </a:solidFill>
                <a:latin typeface="Aptos"/>
              </a:rPr>
              <a:t>All links use sibling file names so the folder can be shared as one package. Generated 2026-04-23.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